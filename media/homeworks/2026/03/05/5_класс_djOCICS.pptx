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E09"/>
    <a:srgbClr val="6FCF17"/>
    <a:srgbClr val="139D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3B997-5239-4CC3-A5A4-FFCA7CB67138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BF668-9346-45AD-A09C-1EF785972EC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8019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BF668-9346-45AD-A09C-1EF785972EC4}" type="slidenum">
              <a:rPr lang="ru-BY" smtClean="0"/>
              <a:t>2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13506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6863B-DEE1-0B95-B6B6-CF0F0FA64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118D65-FEDE-0CF5-CE2D-D7064CA9E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31EFFA-B6C5-C3DA-5052-4CA7BBDF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9C5A1D-6B69-6491-BDB7-A6E8594C4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BBA7E3-1A76-70B9-2A84-98DE49B1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18009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C32C7-BB51-2D77-80AA-5FEEC22C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649D3-B4D5-92FD-DB10-6A144FF00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3D1D91-C5D4-3926-BC3B-2E85FF11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09F22D-64CE-E65B-1653-00022858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124686-9ACA-FE7D-68F8-E9F73123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12836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DCCEA-1664-4844-F5D5-D4B87572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C91564-9838-04CB-FF8C-9822FF008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D134E-47A6-47B1-6B5C-D63B5D13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1F3668-D613-5211-B308-01B1DC3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27294B-1A05-A0FB-712E-B4CEA28D3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575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7D429-6472-20BF-FEF1-48FB0FF2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8ED3DD-03DD-A908-C582-7E5809CAA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D3F40C-C235-662C-A212-D471F29A7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FE170-5471-2E14-07E1-8F09FE1D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6D4803-9020-314F-1FE9-FA928BA1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17F303-8776-7358-21BE-D271840B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4766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0224D3-DB08-C7B6-CC0F-C8A7CEDD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EFED31-0110-4795-66CC-BA712B04D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BECBBA-4EF1-CFC9-803E-4FB80E40F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8A329A2-2D1E-9AC9-A979-A25926049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168368-9B7B-8B9E-6946-FA6267263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B6D32E-7256-1AA2-C73A-09BBCBB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A9159A-51B9-ADA4-7011-BC70AB9E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0AA22BD-D88D-C7D6-41DB-7BE68752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4187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8A5FD7-FE80-BB62-FDF2-9ACBC9D5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18F9209-52D1-9BBE-0F09-E9626C5D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0E049D-6EE0-2A90-8B84-58CB7C74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28FAB2-77EE-D10F-D931-D5AE92C9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6351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20EE24-4E13-49EC-DAF9-BFCCF4D0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13DB12-0A99-7F26-114C-7C1A57FA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1DA9B0-6D92-DAE1-6355-67E0755E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0933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90662-5BE4-804D-0BD9-5527E85B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666FD0-82A5-C072-4BA9-3FB63D9AF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1330C5-9DB9-7926-DDD0-87486B1BF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D73DC8-4D43-084A-1D41-7A7620BF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7F44E8-1B2D-DF38-A9F3-59B8F624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E7156E-32AC-14A9-21F3-3701E9B2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5532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22761-4AF0-1F41-14EF-4297472C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BB403A-841D-25F6-426F-30360834B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8785DF-6B3A-AF0B-8E18-B83D03A38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C4F3A6-7BC6-E4B8-774A-3A1C2D0E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FCAAA4-98A5-5095-33E5-7B28254E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8382BE-0D80-B35C-A949-7280F0B9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4646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A9A5A-C024-FBC9-2D2A-D3AD5453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3AE73D-CD57-4E7B-DFA4-8CCBC5FFA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467D54-453E-CBD7-46AB-304BEB8E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BFED80-9393-6400-A5C3-6259118EE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0D755-02ED-343A-D0A7-04570A2C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750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C2AAAD-42A9-636F-CBA0-1894E8963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9A903D-C7AE-8EA6-7C2D-F791D1C31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578ECB-E176-9418-4BE0-3F4F8AF2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B67D7F-931A-B49C-C99E-775695C0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2174B2-98C6-55C9-0944-2C430562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9313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6B292-C853-B970-2A99-86CC1CD82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152AAA-12F5-6812-C436-19F4F6DC7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26E184-13D7-45F7-76BE-6BA7CC48A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CAF6E-F396-4BD4-9D55-B7842DA3735C}" type="datetimeFigureOut">
              <a:rPr lang="ru-BY" smtClean="0"/>
              <a:t>05.03.2026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187515-3D1E-A572-DB6B-BC66A0038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1BF1A1-F739-8DA2-4C12-BF86B6A2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A7B17-E73D-453E-8718-0540499C15CE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4229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443E1A2-EC4E-1BF3-6A97-B83344AE22B7}"/>
              </a:ext>
            </a:extLst>
          </p:cNvPr>
          <p:cNvSpPr/>
          <p:nvPr/>
        </p:nvSpPr>
        <p:spPr>
          <a:xfrm>
            <a:off x="334536" y="2832409"/>
            <a:ext cx="2018649" cy="29848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BY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Обыкновенные дроби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56B6E351-F034-158F-CF25-1A5397F76E22}"/>
              </a:ext>
            </a:extLst>
          </p:cNvPr>
          <p:cNvCxnSpPr/>
          <p:nvPr/>
        </p:nvCxnSpPr>
        <p:spPr>
          <a:xfrm>
            <a:off x="2501036" y="3813717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1455D47-8FD8-8122-2F9D-417CD37AD85B}"/>
              </a:ext>
            </a:extLst>
          </p:cNvPr>
          <p:cNvSpPr/>
          <p:nvPr/>
        </p:nvSpPr>
        <p:spPr>
          <a:xfrm>
            <a:off x="3627864" y="3061008"/>
            <a:ext cx="3126059" cy="11931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Сложение и вычитание обыкновенных дробей и смешанных чисел</a:t>
            </a:r>
            <a:endParaRPr lang="ru-BY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9E04A996-5B99-D2A6-892D-6E2FF1B599EE}"/>
              </a:ext>
            </a:extLst>
          </p:cNvPr>
          <p:cNvCxnSpPr/>
          <p:nvPr/>
        </p:nvCxnSpPr>
        <p:spPr>
          <a:xfrm>
            <a:off x="6913201" y="3191103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3CD61AF-9CAA-ADA3-3990-E8AD765DC7B9}"/>
              </a:ext>
            </a:extLst>
          </p:cNvPr>
          <p:cNvCxnSpPr/>
          <p:nvPr/>
        </p:nvCxnSpPr>
        <p:spPr>
          <a:xfrm>
            <a:off x="6925793" y="3629718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F018026-5BF6-70E6-8D77-28998BAF147A}"/>
              </a:ext>
            </a:extLst>
          </p:cNvPr>
          <p:cNvCxnSpPr/>
          <p:nvPr/>
        </p:nvCxnSpPr>
        <p:spPr>
          <a:xfrm>
            <a:off x="6925794" y="4014436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1256AF8-0E1B-B23F-1FE8-228634F87225}"/>
              </a:ext>
            </a:extLst>
          </p:cNvPr>
          <p:cNvSpPr/>
          <p:nvPr/>
        </p:nvSpPr>
        <p:spPr>
          <a:xfrm>
            <a:off x="8040029" y="3033128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теория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1043C80-CF4A-CF21-5092-B0DA638399E8}"/>
              </a:ext>
            </a:extLst>
          </p:cNvPr>
          <p:cNvSpPr/>
          <p:nvPr/>
        </p:nvSpPr>
        <p:spPr>
          <a:xfrm>
            <a:off x="8040029" y="3445723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практика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227E409-8DB8-0087-8BC5-BF7C7E79A4E6}"/>
              </a:ext>
            </a:extLst>
          </p:cNvPr>
          <p:cNvSpPr/>
          <p:nvPr/>
        </p:nvSpPr>
        <p:spPr>
          <a:xfrm>
            <a:off x="8040029" y="3858318"/>
            <a:ext cx="1851102" cy="6021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Проверочная работа</a:t>
            </a:r>
            <a:endParaRPr lang="ru-BY" dirty="0">
              <a:solidFill>
                <a:schemeClr val="tx1"/>
              </a:solidFill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161A8B4B-5A2D-C987-615D-0B6ABD4C39BD}"/>
              </a:ext>
            </a:extLst>
          </p:cNvPr>
          <p:cNvCxnSpPr>
            <a:cxnSpLocks/>
          </p:cNvCxnSpPr>
          <p:nvPr/>
        </p:nvCxnSpPr>
        <p:spPr>
          <a:xfrm>
            <a:off x="2501036" y="4895380"/>
            <a:ext cx="739423" cy="1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C26CF0F-5CB8-DCAC-3EA4-5EA9AEDFA4C9}"/>
              </a:ext>
            </a:extLst>
          </p:cNvPr>
          <p:cNvSpPr/>
          <p:nvPr/>
        </p:nvSpPr>
        <p:spPr>
          <a:xfrm>
            <a:off x="3627864" y="4521811"/>
            <a:ext cx="3126059" cy="11931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Умножение и деление обыкновенных дробей и смешанных чисел</a:t>
            </a:r>
            <a:endParaRPr lang="ru-BY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7910CCE4-AACB-B4AC-2E76-A8B3E26CE47D}"/>
              </a:ext>
            </a:extLst>
          </p:cNvPr>
          <p:cNvCxnSpPr/>
          <p:nvPr/>
        </p:nvCxnSpPr>
        <p:spPr>
          <a:xfrm>
            <a:off x="6931789" y="4748554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0D214E6-C7D1-FD8F-5CFB-380DAD140A3C}"/>
              </a:ext>
            </a:extLst>
          </p:cNvPr>
          <p:cNvCxnSpPr/>
          <p:nvPr/>
        </p:nvCxnSpPr>
        <p:spPr>
          <a:xfrm>
            <a:off x="6944381" y="5187169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E84E0E9-55C3-8452-0617-B7FA43DB0A5F}"/>
              </a:ext>
            </a:extLst>
          </p:cNvPr>
          <p:cNvCxnSpPr/>
          <p:nvPr/>
        </p:nvCxnSpPr>
        <p:spPr>
          <a:xfrm>
            <a:off x="6944382" y="5571887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705135A4-91D0-2877-37CB-A91C8EF18E21}"/>
              </a:ext>
            </a:extLst>
          </p:cNvPr>
          <p:cNvSpPr/>
          <p:nvPr/>
        </p:nvSpPr>
        <p:spPr>
          <a:xfrm>
            <a:off x="8058617" y="4590579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теория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E3908EF-2F69-858D-58E0-9FA24434E9B6}"/>
              </a:ext>
            </a:extLst>
          </p:cNvPr>
          <p:cNvSpPr/>
          <p:nvPr/>
        </p:nvSpPr>
        <p:spPr>
          <a:xfrm>
            <a:off x="8058617" y="5003174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практика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A5490AC-370F-12CA-8CFA-602CD3DB7D9F}"/>
              </a:ext>
            </a:extLst>
          </p:cNvPr>
          <p:cNvSpPr/>
          <p:nvPr/>
        </p:nvSpPr>
        <p:spPr>
          <a:xfrm>
            <a:off x="8058617" y="5415769"/>
            <a:ext cx="1851102" cy="6021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Проверочная работа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AC141DC0-A96F-3F37-3A10-D09C5366A44D}"/>
              </a:ext>
            </a:extLst>
          </p:cNvPr>
          <p:cNvSpPr/>
          <p:nvPr/>
        </p:nvSpPr>
        <p:spPr>
          <a:xfrm>
            <a:off x="2937930" y="1636571"/>
            <a:ext cx="3943815" cy="11931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Правильные и неправильные дроби. Смешанные числа. Сравнение и сокращение дробей</a:t>
            </a:r>
            <a:endParaRPr lang="ru-BY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5C5629A-514B-F039-D355-B0DAA56994E1}"/>
              </a:ext>
            </a:extLst>
          </p:cNvPr>
          <p:cNvCxnSpPr/>
          <p:nvPr/>
        </p:nvCxnSpPr>
        <p:spPr>
          <a:xfrm>
            <a:off x="7076752" y="1704278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841A2F2D-1EF9-0C09-3731-F561D679FAAF}"/>
              </a:ext>
            </a:extLst>
          </p:cNvPr>
          <p:cNvCxnSpPr/>
          <p:nvPr/>
        </p:nvCxnSpPr>
        <p:spPr>
          <a:xfrm>
            <a:off x="7089344" y="2142893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01A9F0C0-1A2F-6D5E-3D0E-326CE4A2CEAF}"/>
              </a:ext>
            </a:extLst>
          </p:cNvPr>
          <p:cNvCxnSpPr/>
          <p:nvPr/>
        </p:nvCxnSpPr>
        <p:spPr>
          <a:xfrm>
            <a:off x="7089345" y="2527611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AB83856-88D8-AF32-691E-EEE3ECDAE112}"/>
              </a:ext>
            </a:extLst>
          </p:cNvPr>
          <p:cNvSpPr/>
          <p:nvPr/>
        </p:nvSpPr>
        <p:spPr>
          <a:xfrm>
            <a:off x="8203580" y="1546303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теория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9A791282-5360-6C1F-E17F-E432DB6C4FBD}"/>
              </a:ext>
            </a:extLst>
          </p:cNvPr>
          <p:cNvSpPr/>
          <p:nvPr/>
        </p:nvSpPr>
        <p:spPr>
          <a:xfrm>
            <a:off x="8203580" y="1958898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практика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C0639A8B-78C6-61EB-ACDB-D6AC0C1BA0DF}"/>
              </a:ext>
            </a:extLst>
          </p:cNvPr>
          <p:cNvSpPr/>
          <p:nvPr/>
        </p:nvSpPr>
        <p:spPr>
          <a:xfrm>
            <a:off x="8214731" y="2371493"/>
            <a:ext cx="1851102" cy="6021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Проверочная работа</a:t>
            </a:r>
            <a:endParaRPr lang="ru-BY" dirty="0">
              <a:solidFill>
                <a:schemeClr val="tx1"/>
              </a:solidFill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4CE65050-B2B8-C0C5-51B7-B639E8B6A626}"/>
              </a:ext>
            </a:extLst>
          </p:cNvPr>
          <p:cNvCxnSpPr/>
          <p:nvPr/>
        </p:nvCxnSpPr>
        <p:spPr>
          <a:xfrm flipV="1">
            <a:off x="2062976" y="2233161"/>
            <a:ext cx="646770" cy="439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0EB81071-2B1F-EC56-1F6C-72D0280202EE}"/>
              </a:ext>
            </a:extLst>
          </p:cNvPr>
          <p:cNvSpPr/>
          <p:nvPr/>
        </p:nvSpPr>
        <p:spPr>
          <a:xfrm>
            <a:off x="3642872" y="6017934"/>
            <a:ext cx="3126059" cy="6319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задач на части</a:t>
            </a:r>
            <a:endParaRPr lang="ru-BY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1E0E484-CCD1-44B9-27B2-56A2916F5E39}"/>
              </a:ext>
            </a:extLst>
          </p:cNvPr>
          <p:cNvCxnSpPr>
            <a:cxnSpLocks/>
          </p:cNvCxnSpPr>
          <p:nvPr/>
        </p:nvCxnSpPr>
        <p:spPr>
          <a:xfrm>
            <a:off x="2501036" y="5815356"/>
            <a:ext cx="873789" cy="313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34CFAC65-0E7B-D661-D8F2-D3D15583CD8C}"/>
              </a:ext>
            </a:extLst>
          </p:cNvPr>
          <p:cNvCxnSpPr/>
          <p:nvPr/>
        </p:nvCxnSpPr>
        <p:spPr>
          <a:xfrm>
            <a:off x="7087903" y="5801530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6D065190-4DCC-6E3F-685D-733BEBAEF05A}"/>
              </a:ext>
            </a:extLst>
          </p:cNvPr>
          <p:cNvCxnSpPr/>
          <p:nvPr/>
        </p:nvCxnSpPr>
        <p:spPr>
          <a:xfrm>
            <a:off x="7100495" y="6240145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6119F21D-1BCF-CA0B-9D1F-F1832B538D43}"/>
              </a:ext>
            </a:extLst>
          </p:cNvPr>
          <p:cNvCxnSpPr/>
          <p:nvPr/>
        </p:nvCxnSpPr>
        <p:spPr>
          <a:xfrm>
            <a:off x="7100496" y="6624863"/>
            <a:ext cx="873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5C54E272-6485-7B97-22C6-2FD67FE2BBAB}"/>
              </a:ext>
            </a:extLst>
          </p:cNvPr>
          <p:cNvSpPr/>
          <p:nvPr/>
        </p:nvSpPr>
        <p:spPr>
          <a:xfrm>
            <a:off x="8214731" y="5643555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теория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8986DDB2-AB91-26F3-6B63-442C392FC4B7}"/>
              </a:ext>
            </a:extLst>
          </p:cNvPr>
          <p:cNvSpPr/>
          <p:nvPr/>
        </p:nvSpPr>
        <p:spPr>
          <a:xfrm>
            <a:off x="8214731" y="6056150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практика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3FB0AD7D-68F6-B67C-6E6B-71371B519FCD}"/>
              </a:ext>
            </a:extLst>
          </p:cNvPr>
          <p:cNvSpPr/>
          <p:nvPr/>
        </p:nvSpPr>
        <p:spPr>
          <a:xfrm>
            <a:off x="8214731" y="6468745"/>
            <a:ext cx="1851102" cy="6021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Проверочная работа</a:t>
            </a:r>
            <a:endParaRPr lang="ru-B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5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051235-992D-7AC2-7EA7-57C93C78152F}"/>
              </a:ext>
            </a:extLst>
          </p:cNvPr>
          <p:cNvSpPr txBox="1"/>
          <p:nvPr/>
        </p:nvSpPr>
        <p:spPr>
          <a:xfrm>
            <a:off x="1860" y="9484"/>
            <a:ext cx="10027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Правильные и неправильные дроби. Смешанные числа. Сравнение и сокращение дробей</a:t>
            </a:r>
            <a:endParaRPr lang="ru-BY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7FFAA24-0A7E-3088-BC0A-E6C8C395FE34}"/>
              </a:ext>
            </a:extLst>
          </p:cNvPr>
          <p:cNvSpPr/>
          <p:nvPr/>
        </p:nvSpPr>
        <p:spPr>
          <a:xfrm>
            <a:off x="10029412" y="39761"/>
            <a:ext cx="1851102" cy="3679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теория</a:t>
            </a:r>
            <a:endParaRPr lang="ru-BY" dirty="0">
              <a:solidFill>
                <a:schemeClr val="tx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A0BC11A-BE83-C543-A64A-D07CFA9152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29" t="4793" r="6155" b="6250"/>
          <a:stretch>
            <a:fillRect/>
          </a:stretch>
        </p:blipFill>
        <p:spPr>
          <a:xfrm>
            <a:off x="530499" y="407751"/>
            <a:ext cx="3463484" cy="33111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67822A-CCA7-6EAB-07A7-71630CE6BFC4}"/>
                  </a:ext>
                </a:extLst>
              </p:cNvPr>
              <p:cNvSpPr txBox="1"/>
              <p:nvPr/>
            </p:nvSpPr>
            <p:spPr>
              <a:xfrm>
                <a:off x="4733973" y="806130"/>
                <a:ext cx="583493" cy="17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BY" sz="6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6000" b="0" i="1" smtClean="0">
                              <a:solidFill>
                                <a:srgbClr val="E97E09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ru-RU" sz="6000" b="0" i="1" smtClean="0">
                              <a:solidFill>
                                <a:srgbClr val="6FCF1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67822A-CCA7-6EAB-07A7-71630CE6B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973" y="806130"/>
                <a:ext cx="583493" cy="17346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B93429B6-436D-C8CD-6423-2B6728DB4474}"/>
              </a:ext>
            </a:extLst>
          </p:cNvPr>
          <p:cNvCxnSpPr>
            <a:cxnSpLocks/>
          </p:cNvCxnSpPr>
          <p:nvPr/>
        </p:nvCxnSpPr>
        <p:spPr>
          <a:xfrm flipH="1">
            <a:off x="5486622" y="1163318"/>
            <a:ext cx="107156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6498D56-D9D4-8D51-9508-35D7005CFB59}"/>
              </a:ext>
            </a:extLst>
          </p:cNvPr>
          <p:cNvCxnSpPr>
            <a:cxnSpLocks/>
          </p:cNvCxnSpPr>
          <p:nvPr/>
        </p:nvCxnSpPr>
        <p:spPr>
          <a:xfrm flipH="1">
            <a:off x="5553294" y="2244411"/>
            <a:ext cx="107156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FE38AC3-BC4E-5C88-B6E6-C2295E3C3A66}"/>
              </a:ext>
            </a:extLst>
          </p:cNvPr>
          <p:cNvSpPr txBox="1"/>
          <p:nvPr/>
        </p:nvSpPr>
        <p:spPr>
          <a:xfrm>
            <a:off x="7112756" y="806130"/>
            <a:ext cx="41863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Числитель</a:t>
            </a:r>
            <a:endParaRPr lang="ru-BY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D171B5-FA82-18E7-1B55-3147750042FD}"/>
              </a:ext>
            </a:extLst>
          </p:cNvPr>
          <p:cNvSpPr txBox="1"/>
          <p:nvPr/>
        </p:nvSpPr>
        <p:spPr>
          <a:xfrm>
            <a:off x="7012742" y="1859690"/>
            <a:ext cx="41863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Знаменатель</a:t>
            </a:r>
            <a:endParaRPr lang="ru-BY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00CF8B-4822-438B-7BA8-93AABD23A3FC}"/>
              </a:ext>
            </a:extLst>
          </p:cNvPr>
          <p:cNvSpPr txBox="1"/>
          <p:nvPr/>
        </p:nvSpPr>
        <p:spPr>
          <a:xfrm>
            <a:off x="4551655" y="2883172"/>
            <a:ext cx="6325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Дробь читается как «три восьмых»</a:t>
            </a:r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D45124-7322-F16A-4B63-CDDF79DE4B5D}"/>
                  </a:ext>
                </a:extLst>
              </p:cNvPr>
              <p:cNvSpPr txBox="1"/>
              <p:nvPr/>
            </p:nvSpPr>
            <p:spPr>
              <a:xfrm>
                <a:off x="447318" y="3697436"/>
                <a:ext cx="5022099" cy="1776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 </a:t>
                </a:r>
                <a:r>
                  <a:rPr lang="ru-RU" sz="3200" dirty="0">
                    <a:solidFill>
                      <a:srgbClr val="139D2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правильной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дроби числитель </a:t>
                </a:r>
                <a:r>
                  <a:rPr lang="ru-RU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меньше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знаменателя (Пример: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ru-RU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a:rPr lang="ru-RU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f>
                      <m:fPr>
                        <m:ctrlPr>
                          <a:rPr lang="ru-RU" sz="3200" b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BY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D45124-7322-F16A-4B63-CDDF79DE4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18" y="3697436"/>
                <a:ext cx="5022099" cy="1776127"/>
              </a:xfrm>
              <a:prstGeom prst="rect">
                <a:avLst/>
              </a:prstGeom>
              <a:blipFill>
                <a:blip r:embed="rId5"/>
                <a:stretch>
                  <a:fillRect l="-3034" t="-4811" r="-3155" b="-412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F26899-D60D-0146-FF3A-C829839C9B1F}"/>
                  </a:ext>
                </a:extLst>
              </p:cNvPr>
              <p:cNvSpPr txBox="1"/>
              <p:nvPr/>
            </p:nvSpPr>
            <p:spPr>
              <a:xfrm>
                <a:off x="5936675" y="3722196"/>
                <a:ext cx="5857631" cy="1783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 </a:t>
                </a:r>
                <a:r>
                  <a:rPr lang="ru-RU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неправильной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дроби числитель </a:t>
                </a:r>
                <a:r>
                  <a:rPr lang="ru-RU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больше или равен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знаменателю (Пример: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19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ru-RU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f>
                      <m:fPr>
                        <m:ctrlP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ru-RU" sz="32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f>
                      <m:fPr>
                        <m:ctrlP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</a:t>
                </a:r>
                <a:endParaRPr lang="ru-BY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F26899-D60D-0146-FF3A-C829839C9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675" y="3722196"/>
                <a:ext cx="5857631" cy="1783758"/>
              </a:xfrm>
              <a:prstGeom prst="rect">
                <a:avLst/>
              </a:prstGeom>
              <a:blipFill>
                <a:blip r:embed="rId6"/>
                <a:stretch>
                  <a:fillRect l="-2706" t="-4795" r="-2601" b="-411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E49E351-9548-9739-1351-9375DC1E2B77}"/>
              </a:ext>
            </a:extLst>
          </p:cNvPr>
          <p:cNvSpPr txBox="1"/>
          <p:nvPr/>
        </p:nvSpPr>
        <p:spPr>
          <a:xfrm>
            <a:off x="3849792" y="361641"/>
            <a:ext cx="6325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дробь и какие они бывают</a:t>
            </a:r>
            <a:endParaRPr lang="ru-BY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BC737C-8E71-7920-73BD-9E6065F918D6}"/>
                  </a:ext>
                </a:extLst>
              </p:cNvPr>
              <p:cNvSpPr txBox="1"/>
              <p:nvPr/>
            </p:nvSpPr>
            <p:spPr>
              <a:xfrm>
                <a:off x="157163" y="5527813"/>
                <a:ext cx="11877674" cy="1324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помощью дроби можно записать результат деления любых натуральных чисел (Пример: 6 : 2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BY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BC737C-8E71-7920-73BD-9E6065F91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3" y="5527813"/>
                <a:ext cx="11877674" cy="1324786"/>
              </a:xfrm>
              <a:prstGeom prst="rect">
                <a:avLst/>
              </a:prstGeom>
              <a:blipFill>
                <a:blip r:embed="rId7"/>
                <a:stretch>
                  <a:fillRect l="-1335" t="-6452" r="-1283" b="-276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5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8179E-3D37-59EB-BB51-D6B0F5311983}"/>
              </a:ext>
            </a:extLst>
          </p:cNvPr>
          <p:cNvSpPr txBox="1"/>
          <p:nvPr/>
        </p:nvSpPr>
        <p:spPr>
          <a:xfrm>
            <a:off x="215413" y="5785538"/>
            <a:ext cx="118146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Смешанные числа.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Перевод смешанного числа в неправильную дробь и наоборот</a:t>
            </a:r>
            <a:endParaRPr lang="ru-BY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EB7C86-CCF6-7262-AD94-6C47D652D5CC}"/>
                  </a:ext>
                </a:extLst>
              </p:cNvPr>
              <p:cNvSpPr txBox="1"/>
              <p:nvPr/>
            </p:nvSpPr>
            <p:spPr>
              <a:xfrm>
                <a:off x="585602" y="243959"/>
                <a:ext cx="11020795" cy="1283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32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Смешанное число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состоит из целой и дробной частей (Пример: 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  <m:r>
                      <a:rPr lang="ru-RU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читается как «три целых две девятых» )</a:t>
                </a:r>
                <a:endParaRPr lang="ru-BY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EB7C86-CCF6-7262-AD94-6C47D652D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02" y="243959"/>
                <a:ext cx="11020795" cy="1283813"/>
              </a:xfrm>
              <a:prstGeom prst="rect">
                <a:avLst/>
              </a:prstGeom>
              <a:blipFill>
                <a:blip r:embed="rId2"/>
                <a:stretch>
                  <a:fillRect l="-1383" t="-6635" r="-1438" b="-568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7C61676-5843-C02C-1BB1-9A4F6F2A1BBA}"/>
              </a:ext>
            </a:extLst>
          </p:cNvPr>
          <p:cNvSpPr txBox="1"/>
          <p:nvPr/>
        </p:nvSpPr>
        <p:spPr>
          <a:xfrm>
            <a:off x="196453" y="3112955"/>
            <a:ext cx="3196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Смешанное число</a:t>
            </a:r>
            <a:endParaRPr lang="ru-BY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28086-1F99-9E95-56C9-9D3FA2E9B053}"/>
              </a:ext>
            </a:extLst>
          </p:cNvPr>
          <p:cNvSpPr txBox="1"/>
          <p:nvPr/>
        </p:nvSpPr>
        <p:spPr>
          <a:xfrm>
            <a:off x="8304159" y="3112955"/>
            <a:ext cx="3763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Неправильная дробь</a:t>
            </a:r>
            <a:endParaRPr lang="ru-BY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C73D0-D4E9-D902-4BD5-0188FD622557}"/>
                  </a:ext>
                </a:extLst>
              </p:cNvPr>
              <p:cNvSpPr txBox="1"/>
              <p:nvPr/>
            </p:nvSpPr>
            <p:spPr>
              <a:xfrm>
                <a:off x="3566917" y="1657019"/>
                <a:ext cx="4143763" cy="1049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f>
                        <m:fPr>
                          <m:ctrlPr>
                            <a:rPr lang="ru-BY" sz="36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ru-R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∙7+7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ru-RU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ru-BY" sz="3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C73D0-D4E9-D902-4BD5-0188FD622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917" y="1657019"/>
                <a:ext cx="4143763" cy="10499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FC220664-1EB3-1885-BBA9-1EAF58DBF9C9}"/>
              </a:ext>
            </a:extLst>
          </p:cNvPr>
          <p:cNvCxnSpPr/>
          <p:nvPr/>
        </p:nvCxnSpPr>
        <p:spPr>
          <a:xfrm>
            <a:off x="3704834" y="3084380"/>
            <a:ext cx="43005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36DDFA0-91D7-DFE9-F784-674B1CF7F394}"/>
              </a:ext>
            </a:extLst>
          </p:cNvPr>
          <p:cNvCxnSpPr/>
          <p:nvPr/>
        </p:nvCxnSpPr>
        <p:spPr>
          <a:xfrm flipH="1">
            <a:off x="3704834" y="3886201"/>
            <a:ext cx="414376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D6C1A0-E246-ABB6-901F-062A3D052BD0}"/>
                  </a:ext>
                </a:extLst>
              </p:cNvPr>
              <p:cNvSpPr txBox="1"/>
              <p:nvPr/>
            </p:nvSpPr>
            <p:spPr>
              <a:xfrm>
                <a:off x="3252626" y="4437995"/>
                <a:ext cx="5204951" cy="10520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BY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ru-RU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=15:3 </m:t>
                      </m:r>
                      <m:f>
                        <m:f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16 −</m:t>
                          </m:r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f>
                        <m:fPr>
                          <m:ctrlPr>
                            <a:rPr lang="ru-RU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BY" sz="3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D6C1A0-E246-ABB6-901F-062A3D052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626" y="4437995"/>
                <a:ext cx="5204951" cy="10520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38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A5C991-189F-CCA6-1776-66DBBD2BCCED}"/>
              </a:ext>
            </a:extLst>
          </p:cNvPr>
          <p:cNvSpPr txBox="1"/>
          <p:nvPr/>
        </p:nvSpPr>
        <p:spPr>
          <a:xfrm>
            <a:off x="1985452" y="6488668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дроби. Основное свойство дроби</a:t>
            </a:r>
            <a:endParaRPr lang="ru-B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70735-0335-E7D3-D0F3-33B74EDB7672}"/>
              </a:ext>
            </a:extLst>
          </p:cNvPr>
          <p:cNvSpPr txBox="1"/>
          <p:nvPr/>
        </p:nvSpPr>
        <p:spPr>
          <a:xfrm>
            <a:off x="261291" y="268560"/>
            <a:ext cx="11669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Сократить дробь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это значит </a:t>
            </a:r>
            <a:r>
              <a:rPr lang="ru-RU" sz="3200" dirty="0">
                <a:solidFill>
                  <a:srgbClr val="E97E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числитель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знаменатель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дроби разделить на одно и то же число:</a:t>
            </a:r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BF1252-9D4E-F3E7-319C-ED271CF6DFF2}"/>
                  </a:ext>
                </a:extLst>
              </p:cNvPr>
              <p:cNvSpPr txBox="1"/>
              <p:nvPr/>
            </p:nvSpPr>
            <p:spPr>
              <a:xfrm>
                <a:off x="2664625" y="1726537"/>
                <a:ext cx="2367636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BY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12 :</m:t>
                          </m:r>
                          <m:r>
                            <a:rPr lang="ru-R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48 :</m:t>
                          </m:r>
                          <m:r>
                            <a:rPr lang="ru-R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BF1252-9D4E-F3E7-319C-ED271CF6D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25" y="1726537"/>
                <a:ext cx="2367636" cy="1040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CC0F30-F984-885D-4DDE-D9B6B5CE6188}"/>
                  </a:ext>
                </a:extLst>
              </p:cNvPr>
              <p:cNvSpPr txBox="1"/>
              <p:nvPr/>
            </p:nvSpPr>
            <p:spPr>
              <a:xfrm>
                <a:off x="6989198" y="1726537"/>
                <a:ext cx="2112758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BY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21 :</m:t>
                          </m:r>
                          <m:r>
                            <a:rPr lang="ru-R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56 :</m:t>
                          </m:r>
                          <m:r>
                            <a:rPr lang="ru-R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CC0F30-F984-885D-4DDE-D9B6B5CE6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198" y="1726537"/>
                <a:ext cx="2112758" cy="1040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4E10F2A-9613-6FC7-B8D2-682DAB2090BC}"/>
              </a:ext>
            </a:extLst>
          </p:cNvPr>
          <p:cNvSpPr txBox="1"/>
          <p:nvPr/>
        </p:nvSpPr>
        <p:spPr>
          <a:xfrm>
            <a:off x="261290" y="3378614"/>
            <a:ext cx="11669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</a:t>
            </a:r>
            <a:r>
              <a:rPr lang="ru-RU" sz="3200" dirty="0">
                <a:solidFill>
                  <a:srgbClr val="E97E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числитель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знаменатель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дроби можно умножить на одно и то же число:</a:t>
            </a:r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CD2085-01BC-8E54-66E5-BAEFE9B5E5DB}"/>
                  </a:ext>
                </a:extLst>
              </p:cNvPr>
              <p:cNvSpPr txBox="1"/>
              <p:nvPr/>
            </p:nvSpPr>
            <p:spPr>
              <a:xfrm>
                <a:off x="2645573" y="4879317"/>
                <a:ext cx="2507097" cy="10486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BY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5 ·</m:t>
                          </m:r>
                          <m:r>
                            <a:rPr lang="ru-R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11 · </m:t>
                          </m:r>
                          <m:r>
                            <a:rPr lang="ru-R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CD2085-01BC-8E54-66E5-BAEFE9B5E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573" y="4879317"/>
                <a:ext cx="2507097" cy="104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490916-504B-AF70-5AA0-D5922C2D1BF0}"/>
                  </a:ext>
                </a:extLst>
              </p:cNvPr>
              <p:cNvSpPr txBox="1"/>
              <p:nvPr/>
            </p:nvSpPr>
            <p:spPr>
              <a:xfrm>
                <a:off x="6970146" y="4879317"/>
                <a:ext cx="2151230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BY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ru-R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6 ·</m:t>
                          </m:r>
                          <m:r>
                            <a:rPr lang="ru-RU" sz="3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490916-504B-AF70-5AA0-D5922C2D1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146" y="4879317"/>
                <a:ext cx="2151230" cy="1040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97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E1017-242B-6BC7-EB07-22A10C64ED91}"/>
              </a:ext>
            </a:extLst>
          </p:cNvPr>
          <p:cNvSpPr txBox="1"/>
          <p:nvPr/>
        </p:nvSpPr>
        <p:spPr>
          <a:xfrm>
            <a:off x="617643" y="55995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знаменатель дробей </a:t>
            </a:r>
            <a:endParaRPr lang="ru-BY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6E41E-4596-7CB0-5784-D7DA68DF2DDB}"/>
              </a:ext>
            </a:extLst>
          </p:cNvPr>
          <p:cNvSpPr txBox="1"/>
          <p:nvPr/>
        </p:nvSpPr>
        <p:spPr>
          <a:xfrm>
            <a:off x="1305228" y="6334780"/>
            <a:ext cx="108120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числа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числа, которые делятся сами на себя и на 1.</a:t>
            </a:r>
            <a:endParaRPr lang="ru-BY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5517921-438B-A7DA-4A4F-1C44EE8B7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067" y="465259"/>
            <a:ext cx="1149786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привести дроби к </a:t>
            </a:r>
            <a:r>
              <a:rPr lang="ru-RU" altLang="ru-BY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общему знаменателю</a:t>
            </a:r>
            <a:r>
              <a:rPr lang="ru-RU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надо: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BY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Разложить знаменатели на простые множители.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BY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Первую дробь </a:t>
            </a:r>
            <a:r>
              <a:rPr lang="ru-BY" altLang="ru-BY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домножить</a:t>
            </a:r>
            <a:r>
              <a:rPr lang="ru-BY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недостающие множители из второго знаменателя.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BY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Вторую дробь </a:t>
            </a:r>
            <a:r>
              <a:rPr lang="ru-BY" altLang="ru-BY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домножить</a:t>
            </a:r>
            <a:r>
              <a:rPr lang="ru-BY" alt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недостающие множители из первого знаменателя.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8B5072-E43B-5E1F-CAF1-5E911E05233A}"/>
                  </a:ext>
                </a:extLst>
              </p:cNvPr>
              <p:cNvSpPr txBox="1"/>
              <p:nvPr/>
            </p:nvSpPr>
            <p:spPr>
              <a:xfrm>
                <a:off x="846243" y="3709660"/>
                <a:ext cx="2970942" cy="7041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Пример 1: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BY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ru-RU" sz="3200" b="0" i="1" smtClean="0">
                        <a:latin typeface="Cambria Math" panose="02040503050406030204" pitchFamily="18" charset="0"/>
                      </a:rPr>
                      <m:t> и </m:t>
                    </m:r>
                    <m:f>
                      <m:fPr>
                        <m:ctrlPr>
                          <a:rPr lang="ru-RU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ru-BY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8B5072-E43B-5E1F-CAF1-5E911E052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43" y="3709660"/>
                <a:ext cx="2970942" cy="704167"/>
              </a:xfrm>
              <a:prstGeom prst="rect">
                <a:avLst/>
              </a:prstGeom>
              <a:blipFill>
                <a:blip r:embed="rId2"/>
                <a:stretch>
                  <a:fillRect l="-8419" t="-4348" b="-1826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5AD48B-C38C-24F2-B95E-D2A6BAF4D93F}"/>
                  </a:ext>
                </a:extLst>
              </p:cNvPr>
              <p:cNvSpPr txBox="1"/>
              <p:nvPr/>
            </p:nvSpPr>
            <p:spPr>
              <a:xfrm>
                <a:off x="4220502" y="3552179"/>
                <a:ext cx="7717498" cy="1315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ru-RU" altLang="ru-BY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Число 7 является простым множителем, число 14 = 2 · 7.</a:t>
                </a:r>
                <a:endParaRPr lang="ru-BY" altLang="ru-BY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altLang="ru-BY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Домножим</a:t>
                </a: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первую дробь на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BY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BY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ru-BY" altLang="ru-BY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Вторую дробь в данном примере </a:t>
                </a:r>
                <a:r>
                  <a:rPr lang="ru-RU" altLang="ru-BY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домножать</a:t>
                </a: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 надо, так как у неё нет недостающих множителей.</a:t>
                </a:r>
                <a:endParaRPr lang="ru-BY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5AD48B-C38C-24F2-B95E-D2A6BAF4D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502" y="3552179"/>
                <a:ext cx="7717498" cy="1315488"/>
              </a:xfrm>
              <a:prstGeom prst="rect">
                <a:avLst/>
              </a:prstGeom>
              <a:blipFill>
                <a:blip r:embed="rId3"/>
                <a:stretch>
                  <a:fillRect l="-632" t="-2778" r="-711" b="-601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A9396D-940E-EEC5-212F-60375008F6CD}"/>
                  </a:ext>
                </a:extLst>
              </p:cNvPr>
              <p:cNvSpPr txBox="1"/>
              <p:nvPr/>
            </p:nvSpPr>
            <p:spPr>
              <a:xfrm>
                <a:off x="846243" y="5249140"/>
                <a:ext cx="3144066" cy="6984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Пример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BY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ru-RU" sz="3200" b="0" i="1" smtClean="0">
                        <a:latin typeface="Cambria Math" panose="02040503050406030204" pitchFamily="18" charset="0"/>
                      </a:rPr>
                      <m:t> и </m:t>
                    </m:r>
                    <m:f>
                      <m:fPr>
                        <m:ctrlPr>
                          <a:rPr lang="ru-RU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ru-BY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A9396D-940E-EEC5-212F-60375008F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43" y="5249140"/>
                <a:ext cx="3144066" cy="698461"/>
              </a:xfrm>
              <a:prstGeom prst="rect">
                <a:avLst/>
              </a:prstGeom>
              <a:blipFill>
                <a:blip r:embed="rId4"/>
                <a:stretch>
                  <a:fillRect l="-7946" t="-4348" b="-1826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C8F0E4-DFF4-EB29-0990-BE94710832E7}"/>
                  </a:ext>
                </a:extLst>
              </p:cNvPr>
              <p:cNvSpPr txBox="1"/>
              <p:nvPr/>
            </p:nvSpPr>
            <p:spPr>
              <a:xfrm>
                <a:off x="4220502" y="4979360"/>
                <a:ext cx="7717498" cy="1184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ru-RU" altLang="ru-BY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Число 12 = 3 · 2  · 2; число 30 = 3 · 5 · 2.</a:t>
                </a: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altLang="ru-BY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Домножим</a:t>
                </a: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первую дробь на 5: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BY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BY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ru-BY" altLang="ru-BY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ru-RU" altLang="ru-BY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Домножим</a:t>
                </a:r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вторую дробь на недостающую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BY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BY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lang="ru-RU" altLang="ru-BY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BY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C8F0E4-DFF4-EB29-0990-BE9471083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502" y="4979360"/>
                <a:ext cx="7717498" cy="1184620"/>
              </a:xfrm>
              <a:prstGeom prst="rect">
                <a:avLst/>
              </a:prstGeom>
              <a:blipFill>
                <a:blip r:embed="rId5"/>
                <a:stretch>
                  <a:fillRect l="-632" t="-309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06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CFD926-9ACA-B525-BD94-E6FC5F912CD5}"/>
              </a:ext>
            </a:extLst>
          </p:cNvPr>
          <p:cNvSpPr txBox="1"/>
          <p:nvPr/>
        </p:nvSpPr>
        <p:spPr>
          <a:xfrm>
            <a:off x="95250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дробей</a:t>
            </a:r>
            <a:endParaRPr lang="ru-B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DBBE6-DD68-AD17-09E4-0D2EE7D18774}"/>
              </a:ext>
            </a:extLst>
          </p:cNvPr>
          <p:cNvSpPr txBox="1"/>
          <p:nvPr/>
        </p:nvSpPr>
        <p:spPr>
          <a:xfrm>
            <a:off x="292100" y="465435"/>
            <a:ext cx="11607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Любая </a:t>
            </a:r>
            <a: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неправильная дробь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больше </a:t>
            </a:r>
            <a:r>
              <a:rPr lang="ru-RU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правильной дроби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как неправильная дробь больше или равна 1, а правильная — меньше единицы. </a:t>
            </a:r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EE396-2F3A-A805-3BB5-284A7D261862}"/>
                  </a:ext>
                </a:extLst>
              </p:cNvPr>
              <p:cNvSpPr txBox="1"/>
              <p:nvPr/>
            </p:nvSpPr>
            <p:spPr>
              <a:xfrm>
                <a:off x="292100" y="2131198"/>
                <a:ext cx="11480800" cy="3503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14350" indent="-514350" algn="just">
                  <a:buAutoNum type="arabicPeriod"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:r>
                  <a:rPr lang="ru-RU" sz="3200" b="1" dirty="0">
                    <a:solidFill>
                      <a:srgbClr val="6FCF1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одинаковых знаменателях</a:t>
                </a:r>
                <a:r>
                  <a:rPr lang="ru-RU" sz="3200" dirty="0">
                    <a:solidFill>
                      <a:srgbClr val="139D2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больше та дробь, у которой числитель больше. (Пример: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r>
                          <a:rPr lang="ru-RU" sz="3200" b="0" i="1" smtClean="0">
                            <a:solidFill>
                              <a:srgbClr val="6FCF1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  <m:r>
                      <a:rPr lang="ru-RU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ru-RU" sz="3200" b="0" i="1" smtClean="0">
                            <a:solidFill>
                              <a:srgbClr val="6FCF1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514350" indent="-514350" algn="just">
                  <a:buFontTx/>
                  <a:buAutoNum type="arabicPeriod"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:r>
                  <a:rPr lang="ru-RU" sz="3200" b="1" dirty="0">
                    <a:solidFill>
                      <a:srgbClr val="E97E0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одинаковых числителях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больше та дробь, у которой знаменатель меньше. (Пример: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solidFill>
                              <a:srgbClr val="E97E0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  <m:r>
                      <a:rPr lang="ru-RU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b="0" i="1" smtClean="0">
                            <a:solidFill>
                              <a:srgbClr val="E97E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514350" indent="-514350" algn="just">
                  <a:buAutoNum type="arabicPeriod"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и знаменатель и числитель разные, то надо привести дроби к общему знаменателю и сравнить как в пункте 1.</a:t>
                </a:r>
                <a:endParaRPr lang="ru-BY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EE396-2F3A-A805-3BB5-284A7D261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" y="2131198"/>
                <a:ext cx="11480800" cy="3503780"/>
              </a:xfrm>
              <a:prstGeom prst="rect">
                <a:avLst/>
              </a:prstGeom>
              <a:blipFill>
                <a:blip r:embed="rId2"/>
                <a:stretch>
                  <a:fillRect l="-1221" t="-2439" r="-1328" b="-348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2171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471</Words>
  <Application>Microsoft Office PowerPoint</Application>
  <PresentationFormat>Широкоэкранный</PresentationFormat>
  <Paragraphs>60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Татьяна Хлопина</dc:creator>
  <cp:lastModifiedBy>Татьяна Хлопина</cp:lastModifiedBy>
  <cp:revision>9</cp:revision>
  <dcterms:created xsi:type="dcterms:W3CDTF">2026-03-05T09:07:20Z</dcterms:created>
  <dcterms:modified xsi:type="dcterms:W3CDTF">2026-03-05T13:18:24Z</dcterms:modified>
</cp:coreProperties>
</file>