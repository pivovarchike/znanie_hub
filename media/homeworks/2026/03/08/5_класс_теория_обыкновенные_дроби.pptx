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50" d="100"/>
          <a:sy n="50" d="100"/>
        </p:scale>
        <p:origin x="1212" y="18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298273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522141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B33B997-5239-4CC3-A5A4-FFCA7CB67138}" type="datetimeFigureOut">
              <a:rPr/>
              <a:t>05.03.2026</a:t>
            </a:fld>
            <a:endParaRPr/>
          </a:p>
        </p:txBody>
      </p:sp>
      <p:sp>
        <p:nvSpPr>
          <p:cNvPr id="729543875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14456936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29841924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0253390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36BF668-9346-45AD-A09C-1EF785972EC4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105988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165871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71357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36BF668-9346-45AD-A09C-1EF785972EC4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82578D-5898-D939-C426-B4856DEA97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B08BE0-AEB2-395B-FE04-27FB2FADEA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19D270-D8C5-7661-3A5E-4F0E50A338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68E91C-0DF4-49CA-8862-19C4A0426A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550993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6330225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168110362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ECAF6E-F396-4BD4-9D55-B7842DA3735C}" type="datetimeFigureOut">
              <a:rPr/>
              <a:t>05.03.2026</a:t>
            </a:fld>
            <a:endParaRPr/>
          </a:p>
        </p:txBody>
      </p:sp>
      <p:sp>
        <p:nvSpPr>
          <p:cNvPr id="1162628568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09569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FCA7B17-E73D-453E-8718-0540499C15CE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33236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61131558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3755975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ECAF6E-F396-4BD4-9D55-B7842DA3735C}" type="datetimeFigureOut">
              <a:rPr/>
              <a:t>05.03.2026</a:t>
            </a:fld>
            <a:endParaRPr/>
          </a:p>
        </p:txBody>
      </p:sp>
      <p:sp>
        <p:nvSpPr>
          <p:cNvPr id="510855613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39152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FCA7B17-E73D-453E-8718-0540499C15CE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974829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1987880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7682571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ECAF6E-F396-4BD4-9D55-B7842DA3735C}" type="datetimeFigureOut">
              <a:rPr/>
              <a:t>05.03.2026</a:t>
            </a:fld>
            <a:endParaRPr/>
          </a:p>
        </p:txBody>
      </p:sp>
      <p:sp>
        <p:nvSpPr>
          <p:cNvPr id="101421492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24575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FCA7B17-E73D-453E-8718-0540499C15CE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42370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81002917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11894886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4515386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ECAF6E-F396-4BD4-9D55-B7842DA3735C}" type="datetimeFigureOut">
              <a:rPr/>
              <a:t>05.03.2026</a:t>
            </a:fld>
            <a:endParaRPr/>
          </a:p>
        </p:txBody>
      </p:sp>
      <p:sp>
        <p:nvSpPr>
          <p:cNvPr id="1575212840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176522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FCA7B17-E73D-453E-8718-0540499C15CE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050346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927218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13682830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72589587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16146057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84360111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ECAF6E-F396-4BD4-9D55-B7842DA3735C}" type="datetimeFigureOut">
              <a:rPr/>
              <a:t>05.03.2026</a:t>
            </a:fld>
            <a:endParaRPr/>
          </a:p>
        </p:txBody>
      </p:sp>
      <p:sp>
        <p:nvSpPr>
          <p:cNvPr id="1867890039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449131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FCA7B17-E73D-453E-8718-0540499C15CE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69209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81720565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ECAF6E-F396-4BD4-9D55-B7842DA3735C}" type="datetimeFigureOut">
              <a:rPr/>
              <a:t>05.03.2026</a:t>
            </a:fld>
            <a:endParaRPr/>
          </a:p>
        </p:txBody>
      </p:sp>
      <p:sp>
        <p:nvSpPr>
          <p:cNvPr id="936136819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46527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FCA7B17-E73D-453E-8718-0540499C15CE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85300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ECAF6E-F396-4BD4-9D55-B7842DA3735C}" type="datetimeFigureOut">
              <a:rPr/>
              <a:t>05.03.2026</a:t>
            </a:fld>
            <a:endParaRPr/>
          </a:p>
        </p:txBody>
      </p:sp>
      <p:sp>
        <p:nvSpPr>
          <p:cNvPr id="1345910821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446407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FCA7B17-E73D-453E-8718-0540499C15CE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891035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33522932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3041608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6423919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ECAF6E-F396-4BD4-9D55-B7842DA3735C}" type="datetimeFigureOut">
              <a:rPr/>
              <a:t>05.03.2026</a:t>
            </a:fld>
            <a:endParaRPr/>
          </a:p>
        </p:txBody>
      </p:sp>
      <p:sp>
        <p:nvSpPr>
          <p:cNvPr id="198085373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439675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FCA7B17-E73D-453E-8718-0540499C15CE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665887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90178322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129710966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80602244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ECAF6E-F396-4BD4-9D55-B7842DA3735C}" type="datetimeFigureOut">
              <a:rPr/>
              <a:t>05.03.2026</a:t>
            </a:fld>
            <a:endParaRPr/>
          </a:p>
        </p:txBody>
      </p:sp>
      <p:sp>
        <p:nvSpPr>
          <p:cNvPr id="76573866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933476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FCA7B17-E73D-453E-8718-0540499C15CE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67497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0702944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168973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ECAF6E-F396-4BD4-9D55-B7842DA3735C}" type="datetimeFigureOut">
              <a:rPr/>
              <a:t>05.03.2026</a:t>
            </a:fld>
            <a:endParaRPr/>
          </a:p>
        </p:txBody>
      </p:sp>
      <p:sp>
        <p:nvSpPr>
          <p:cNvPr id="1292790242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06026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FCA7B17-E73D-453E-8718-0540499C15CE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088411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18361332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571094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ECAF6E-F396-4BD4-9D55-B7842DA3735C}" type="datetimeFigureOut">
              <a:rPr/>
              <a:t>05.03.2026</a:t>
            </a:fld>
            <a:endParaRPr/>
          </a:p>
        </p:txBody>
      </p:sp>
      <p:sp>
        <p:nvSpPr>
          <p:cNvPr id="54936614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286786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FCA7B17-E73D-453E-8718-0540499C15CE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375193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47212962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066152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4DECAF6E-F396-4BD4-9D55-B7842DA3735C}" type="datetimeFigureOut">
              <a:rPr/>
              <a:t>05.03.2026</a:t>
            </a:fld>
            <a:endParaRPr/>
          </a:p>
        </p:txBody>
      </p:sp>
      <p:sp>
        <p:nvSpPr>
          <p:cNvPr id="103322781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45035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8FCA7B17-E73D-453E-8718-0540499C15CE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879385" name="Рисунок 15"/>
          <p:cNvPicPr>
            <a:picLocks noChangeAspect="1"/>
          </p:cNvPicPr>
          <p:nvPr/>
        </p:nvPicPr>
        <p:blipFill rotWithShape="1">
          <a:blip r:embed="rId3"/>
          <a:srcRect l="18729" t="4793" r="6155" b="6250"/>
          <a:stretch/>
        </p:blipFill>
        <p:spPr bwMode="auto">
          <a:xfrm>
            <a:off x="530499" y="407751"/>
            <a:ext cx="3463484" cy="3311192"/>
          </a:xfrm>
          <a:prstGeom prst="rect">
            <a:avLst/>
          </a:prstGeom>
        </p:spPr>
      </p:pic>
      <p:sp>
        <p:nvSpPr>
          <p:cNvPr id="690405059" name="TextBox 16"/>
          <p:cNvSpPr txBox="1"/>
          <p:nvPr/>
        </p:nvSpPr>
        <p:spPr bwMode="auto">
          <a:xfrm>
            <a:off x="4733973" y="806129"/>
            <a:ext cx="583493" cy="173464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sz="6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6000" b="0" i="1">
                              <a:solidFill>
                                <a:srgbClr val="E97E09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m:rPr/>
                            <a:rPr lang="ru-RU" sz="6000" b="0" i="1">
                              <a:solidFill>
                                <a:srgbClr val="6FCF17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/>
          </a:p>
        </p:txBody>
      </p:sp>
      <p:cxnSp>
        <p:nvCxnSpPr>
          <p:cNvPr id="1994334677" name="Прямая со стрелкой 18"/>
          <p:cNvCxnSpPr/>
          <p:nvPr/>
        </p:nvCxnSpPr>
        <p:spPr bwMode="auto">
          <a:xfrm flipH="1">
            <a:off x="5486622" y="1163318"/>
            <a:ext cx="107156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94198384" name="Прямая со стрелкой 23"/>
          <p:cNvCxnSpPr/>
          <p:nvPr/>
        </p:nvCxnSpPr>
        <p:spPr bwMode="auto">
          <a:xfrm flipH="1">
            <a:off x="5553293" y="2244411"/>
            <a:ext cx="107156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7372569" name="TextBox 24"/>
          <p:cNvSpPr txBox="1"/>
          <p:nvPr/>
        </p:nvSpPr>
        <p:spPr bwMode="auto">
          <a:xfrm>
            <a:off x="7112756" y="806129"/>
            <a:ext cx="41863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400">
                <a:latin typeface="Times New Roman"/>
                <a:cs typeface="Times New Roman"/>
              </a:rPr>
              <a:t>Числитель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144960294" name="TextBox 25"/>
          <p:cNvSpPr txBox="1"/>
          <p:nvPr/>
        </p:nvSpPr>
        <p:spPr bwMode="auto">
          <a:xfrm>
            <a:off x="7012742" y="1859690"/>
            <a:ext cx="41863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400">
                <a:latin typeface="Times New Roman"/>
                <a:cs typeface="Times New Roman"/>
              </a:rPr>
              <a:t>Знаменатель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17181601" name="TextBox 26"/>
          <p:cNvSpPr txBox="1"/>
          <p:nvPr/>
        </p:nvSpPr>
        <p:spPr bwMode="auto">
          <a:xfrm>
            <a:off x="4551655" y="2883172"/>
            <a:ext cx="63258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3200">
                <a:latin typeface="Times New Roman"/>
                <a:cs typeface="Times New Roman"/>
              </a:rPr>
              <a:t>Дробь читается как «три восьмых»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38465229" name="TextBox 27"/>
          <p:cNvSpPr txBox="1"/>
          <p:nvPr/>
        </p:nvSpPr>
        <p:spPr bwMode="auto">
          <a:xfrm>
            <a:off x="447318" y="3697436"/>
            <a:ext cx="5022099" cy="1776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ru-RU" sz="3200">
                <a:latin typeface="Times New Roman"/>
                <a:cs typeface="Times New Roman"/>
              </a:rPr>
              <a:t>У </a:t>
            </a:r>
            <a:r>
              <a:rPr lang="ru-RU" sz="3200">
                <a:solidFill>
                  <a:srgbClr val="139D27"/>
                </a:solidFill>
                <a:latin typeface="Times New Roman"/>
                <a:cs typeface="Times New Roman"/>
              </a:rPr>
              <a:t>правильной</a:t>
            </a:r>
            <a:r>
              <a:rPr lang="ru-RU" sz="3200">
                <a:latin typeface="Times New Roman"/>
                <a:cs typeface="Times New Roman"/>
              </a:rPr>
              <a:t> дроби числитель </a:t>
            </a:r>
            <a:r>
              <a:rPr lang="ru-RU" sz="3200" b="1">
                <a:latin typeface="Times New Roman"/>
                <a:cs typeface="Times New Roman"/>
              </a:rPr>
              <a:t>меньше</a:t>
            </a:r>
            <a:r>
              <a:rPr lang="ru-RU" sz="3200">
                <a:latin typeface="Times New Roman"/>
                <a:cs typeface="Times New Roman"/>
              </a:rPr>
              <a:t> знаменателя (Пример: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ru-RU" sz="3200">
                              <a:latin typeface="Cambria Math"/>
                              <a:ea typeface="Cambria Math"/>
                              <a:cs typeface="Times New Roman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0">
                              <a:latin typeface="Cambria Math"/>
                              <a:cs typeface="Times New Roman"/>
                            </a:rPr>
                            <m:t>2</m:t>
                          </m:r>
                        </m:num>
                        <m:den>
                          <m:r>
                            <m:rPr/>
                            <a:rPr lang="ru-RU" sz="3200" b="0" i="0">
                              <a:latin typeface="Cambria Math"/>
                              <a:cs typeface="Times New Roman"/>
                            </a:rPr>
                            <m:t>7</m:t>
                          </m:r>
                        </m:den>
                      </m:f>
                      <m:r>
                        <m:rPr/>
                        <a:rPr lang="ru-RU" sz="3200" b="0" i="0">
                          <a:latin typeface="Cambria Math"/>
                          <a:cs typeface="Times New Roman"/>
                        </a:rPr>
                        <m:t>; </m:t>
                      </m:r>
                      <m:f>
                        <m:fPr>
                          <m:ctrlPr>
                            <a:rPr lang="ru-RU" sz="3200" b="0">
                              <a:latin typeface="Cambria Math"/>
                              <a:ea typeface="Cambria Math"/>
                              <a:cs typeface="Times New Roman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0">
                              <a:latin typeface="Cambria Math"/>
                              <a:cs typeface="Times New Roman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ru-RU" sz="3200" b="0" i="0">
                              <a:latin typeface="Cambria Math"/>
                              <a:cs typeface="Times New Roman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ru-RU" sz="320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6693535" name="TextBox 28"/>
          <p:cNvSpPr txBox="1"/>
          <p:nvPr/>
        </p:nvSpPr>
        <p:spPr bwMode="auto">
          <a:xfrm>
            <a:off x="5936675" y="3722196"/>
            <a:ext cx="5857631" cy="1783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ru-RU" sz="3200">
                <a:latin typeface="Times New Roman"/>
                <a:cs typeface="Times New Roman"/>
              </a:rPr>
              <a:t>У </a:t>
            </a:r>
            <a:r>
              <a:rPr lang="ru-RU" sz="3200">
                <a:solidFill>
                  <a:srgbClr val="FF0000"/>
                </a:solidFill>
                <a:latin typeface="Times New Roman"/>
                <a:cs typeface="Times New Roman"/>
              </a:rPr>
              <a:t>неправильной</a:t>
            </a:r>
            <a:r>
              <a:rPr lang="ru-RU" sz="3200">
                <a:latin typeface="Times New Roman"/>
                <a:cs typeface="Times New Roman"/>
              </a:rPr>
              <a:t> дроби числитель </a:t>
            </a:r>
            <a:r>
              <a:rPr lang="ru-RU" sz="3200" b="1">
                <a:latin typeface="Times New Roman"/>
                <a:cs typeface="Times New Roman"/>
              </a:rPr>
              <a:t>больше или равен </a:t>
            </a:r>
            <a:r>
              <a:rPr lang="ru-RU" sz="3200">
                <a:latin typeface="Times New Roman"/>
                <a:cs typeface="Times New Roman"/>
              </a:rPr>
              <a:t>знаменателю (Пример: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ru-RU" sz="3200" i="1">
                              <a:latin typeface="Cambria Math"/>
                              <a:ea typeface="Cambria Math"/>
                              <a:cs typeface="Times New Roman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1">
                              <a:latin typeface="Cambria Math"/>
                              <a:cs typeface="Times New Roman"/>
                            </a:rPr>
                            <m:t>19</m:t>
                          </m:r>
                        </m:num>
                        <m:den>
                          <m:r>
                            <m:rPr/>
                            <a:rPr lang="ru-RU" sz="3200" b="0" i="1">
                              <a:latin typeface="Cambria Math"/>
                              <a:cs typeface="Times New Roman"/>
                            </a:rPr>
                            <m:t>6</m:t>
                          </m:r>
                        </m:den>
                      </m:f>
                      <m:r>
                        <m:rPr/>
                        <a:rPr lang="ru-RU" sz="3200" b="0" i="1">
                          <a:latin typeface="Cambria Math"/>
                          <a:cs typeface="Times New Roman"/>
                        </a:rPr>
                        <m:t>; </m:t>
                      </m:r>
                      <m:f>
                        <m:fPr>
                          <m:ctrlPr>
                            <a:rPr lang="ru-RU" sz="3200" b="0" i="1">
                              <a:latin typeface="Cambria Math"/>
                              <a:ea typeface="Cambria Math"/>
                              <a:cs typeface="Times New Roman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1">
                              <a:latin typeface="Cambria Math"/>
                              <a:cs typeface="Times New Roman"/>
                            </a:rPr>
                            <m:t>4</m:t>
                          </m:r>
                        </m:num>
                        <m:den>
                          <m:r>
                            <m:rPr/>
                            <a:rPr lang="ru-RU" sz="3200" b="0" i="1">
                              <a:latin typeface="Cambria Math"/>
                              <a:cs typeface="Times New Roman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ru-RU" sz="3200" b="0">
                <a:cs typeface="Times New Roman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sz="3200" b="0" i="0">
                          <a:latin typeface="Cambria Math"/>
                          <a:cs typeface="Times New Roman"/>
                        </a:rPr>
                        <m:t>; </m:t>
                      </m:r>
                      <m:f>
                        <m:fPr>
                          <m:ctrlPr>
                            <a:rPr lang="ru-RU" sz="3200" b="0" i="1">
                              <a:latin typeface="Cambria Math"/>
                              <a:ea typeface="Cambria Math"/>
                              <a:cs typeface="Times New Roman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1">
                              <a:latin typeface="Cambria Math"/>
                              <a:cs typeface="Times New Roman"/>
                            </a:rPr>
                            <m:t>5</m:t>
                          </m:r>
                        </m:num>
                        <m:den>
                          <m:r>
                            <m:rPr/>
                            <a:rPr lang="ru-RU" sz="3200" b="0" i="1">
                              <a:latin typeface="Cambria Math"/>
                              <a:cs typeface="Times New Roman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ru-RU" sz="3200">
                <a:latin typeface="Times New Roman"/>
                <a:cs typeface="Times New Roman"/>
              </a:rPr>
              <a:t> 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86113295" name="TextBox 29"/>
          <p:cNvSpPr txBox="1"/>
          <p:nvPr/>
        </p:nvSpPr>
        <p:spPr bwMode="auto">
          <a:xfrm>
            <a:off x="3849792" y="361641"/>
            <a:ext cx="6325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b="1">
                <a:solidFill>
                  <a:schemeClr val="tx1"/>
                </a:solidFill>
                <a:latin typeface="Times New Roman"/>
                <a:cs typeface="Times New Roman"/>
              </a:rPr>
              <a:t>Что такое дробь и какие они бывают</a:t>
            </a:r>
            <a:endParaRPr sz="24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04728697" name="TextBox 31"/>
          <p:cNvSpPr txBox="1"/>
          <p:nvPr/>
        </p:nvSpPr>
        <p:spPr bwMode="auto">
          <a:xfrm>
            <a:off x="157163" y="5527813"/>
            <a:ext cx="11877674" cy="132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sz="3200">
                <a:latin typeface="Times New Roman"/>
                <a:cs typeface="Times New Roman"/>
              </a:rPr>
              <a:t>С помощью дроби можно записать результат деления любых натуральных чисел (Пример: 6 : 2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ru-RU" sz="3200" i="1">
                              <a:latin typeface="Cambria Math"/>
                              <a:ea typeface="Cambria Math"/>
                              <a:cs typeface="Times New Roman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1">
                              <a:latin typeface="Cambria Math"/>
                              <a:cs typeface="Times New Roman"/>
                            </a:rPr>
                            <m:t>6</m:t>
                          </m:r>
                        </m:num>
                        <m:den>
                          <m:r>
                            <m:rPr/>
                            <a:rPr lang="ru-RU" sz="3200" b="0" i="1">
                              <a:latin typeface="Cambria Math"/>
                              <a:cs typeface="Times New Roman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ru-RU" sz="320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891149" name="TextBox 1"/>
          <p:cNvSpPr txBox="1"/>
          <p:nvPr/>
        </p:nvSpPr>
        <p:spPr bwMode="auto">
          <a:xfrm>
            <a:off x="215413" y="5785538"/>
            <a:ext cx="118146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>
                <a:solidFill>
                  <a:schemeClr val="tx1"/>
                </a:solidFill>
                <a:latin typeface="Times New Roman"/>
                <a:cs typeface="Times New Roman"/>
              </a:rPr>
              <a:t>Смешанные числа. </a:t>
            </a:r>
            <a:r>
              <a:rPr lang="ru-RU" sz="2800" b="1">
                <a:latin typeface="Times New Roman"/>
                <a:cs typeface="Times New Roman"/>
              </a:rPr>
              <a:t>Перевод смешанного числа в неправильную дробь и наоборот</a:t>
            </a:r>
            <a:endParaRPr sz="28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847483740" name="TextBox 3"/>
          <p:cNvSpPr txBox="1"/>
          <p:nvPr/>
        </p:nvSpPr>
        <p:spPr bwMode="auto">
          <a:xfrm>
            <a:off x="585602" y="243959"/>
            <a:ext cx="11020795" cy="1283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sz="3200" b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/>
                <a:cs typeface="Times New Roman"/>
              </a:rPr>
              <a:t>Смешанное число </a:t>
            </a:r>
            <a:r>
              <a:rPr lang="ru-RU" sz="3200">
                <a:latin typeface="Times New Roman"/>
                <a:cs typeface="Times New Roman"/>
              </a:rPr>
              <a:t>состоит из целой и дробной частей (Пример: 3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ru-RU" sz="3200" i="1">
                              <a:latin typeface="Cambria Math"/>
                              <a:ea typeface="Cambria Math"/>
                              <a:cs typeface="Times New Roman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1">
                              <a:latin typeface="Cambria Math"/>
                              <a:cs typeface="Times New Roman"/>
                            </a:rPr>
                            <m:t>2</m:t>
                          </m:r>
                        </m:num>
                        <m:den>
                          <m:r>
                            <m:rPr/>
                            <a:rPr lang="ru-RU" sz="3200" b="0" i="1">
                              <a:latin typeface="Cambria Math"/>
                              <a:cs typeface="Times New Roman"/>
                            </a:rPr>
                            <m:t>9</m:t>
                          </m:r>
                        </m:den>
                      </m:f>
                      <m:r>
                        <m:rPr/>
                        <a:rPr lang="ru-RU" sz="3200" b="0" i="0">
                          <a:latin typeface="Cambria Math"/>
                          <a:cs typeface="Times New Roman"/>
                        </a:rPr>
                        <m:t>,</m:t>
                      </m:r>
                    </m:oMath>
                  </m:oMathPara>
                </a14:m>
              </mc:Choice>
              <mc:Fallback/>
            </mc:AlternateContent>
            <a:r>
              <a:rPr lang="ru-RU" sz="3200">
                <a:latin typeface="Times New Roman"/>
                <a:cs typeface="Times New Roman"/>
              </a:rPr>
              <a:t> читается как «три целых две девятых» 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38771806" name="TextBox 5"/>
          <p:cNvSpPr txBox="1"/>
          <p:nvPr/>
        </p:nvSpPr>
        <p:spPr bwMode="auto">
          <a:xfrm>
            <a:off x="196452" y="3112954"/>
            <a:ext cx="3196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/>
                <a:cs typeface="Times New Roman"/>
              </a:rPr>
              <a:t>Смешанное число</a:t>
            </a:r>
            <a:endParaRPr sz="2800"/>
          </a:p>
        </p:txBody>
      </p:sp>
      <p:sp>
        <p:nvSpPr>
          <p:cNvPr id="1973315242" name="TextBox 6"/>
          <p:cNvSpPr txBox="1"/>
          <p:nvPr/>
        </p:nvSpPr>
        <p:spPr bwMode="auto">
          <a:xfrm>
            <a:off x="8304159" y="3112954"/>
            <a:ext cx="37635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>
                <a:solidFill>
                  <a:srgbClr val="FF0000"/>
                </a:solidFill>
                <a:latin typeface="Times New Roman"/>
                <a:cs typeface="Times New Roman"/>
              </a:rPr>
              <a:t>Неправильная дробь</a:t>
            </a:r>
            <a:endParaRPr sz="2800">
              <a:solidFill>
                <a:srgbClr val="FF0000"/>
              </a:solidFill>
            </a:endParaRPr>
          </a:p>
        </p:txBody>
      </p:sp>
      <p:sp>
        <p:nvSpPr>
          <p:cNvPr id="749626626" name="TextBox 7"/>
          <p:cNvSpPr txBox="1"/>
          <p:nvPr/>
        </p:nvSpPr>
        <p:spPr bwMode="auto">
          <a:xfrm>
            <a:off x="3566917" y="1657019"/>
            <a:ext cx="4143763" cy="104996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ru-RU" sz="3600" b="0" i="1">
                          <a:solidFill>
                            <a:srgbClr val="0070C0"/>
                          </a:solidFill>
                          <a:latin typeface="Cambria Math"/>
                        </a:rPr>
                        <m:t>4</m:t>
                      </m:r>
                      <m:f>
                        <m:fPr>
                          <m:ctrlPr>
                            <a:rPr sz="36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6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m:rPr/>
                            <a:rPr lang="ru-RU" sz="36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m:rPr/>
                        <a:rPr lang="ru-RU" sz="3600" b="0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ru-RU" sz="3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600" b="0" i="1">
                              <a:latin typeface="Cambria Math"/>
                            </a:rPr>
                            <m:t>4</m:t>
                          </m:r>
                          <m:r>
                            <m:rPr/>
                            <a:rPr lang="ru-RU" sz="3600" b="0" i="1">
                              <a:latin typeface="Cambria Math"/>
                              <a:ea typeface="Cambria Math"/>
                            </a:rPr>
                            <m:t>∙7+7</m:t>
                          </m:r>
                        </m:num>
                        <m:den>
                          <m:r>
                            <m:rPr/>
                            <a:rPr lang="ru-RU" sz="3600" b="0" i="1"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m:rPr/>
                        <a:rPr lang="ru-RU" sz="3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3600" b="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6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28</m:t>
                          </m:r>
                        </m:num>
                        <m:den>
                          <m:r>
                            <m:rPr/>
                            <a:rPr lang="ru-RU" sz="36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sz="3600"/>
          </a:p>
        </p:txBody>
      </p:sp>
      <p:cxnSp>
        <p:nvCxnSpPr>
          <p:cNvPr id="1728295838" name="Прямая со стрелкой 14"/>
          <p:cNvCxnSpPr/>
          <p:nvPr/>
        </p:nvCxnSpPr>
        <p:spPr bwMode="auto">
          <a:xfrm>
            <a:off x="3704834" y="3084380"/>
            <a:ext cx="43005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878525" name="Прямая со стрелкой 16"/>
          <p:cNvCxnSpPr/>
          <p:nvPr/>
        </p:nvCxnSpPr>
        <p:spPr bwMode="auto">
          <a:xfrm flipH="1">
            <a:off x="3704834" y="3886201"/>
            <a:ext cx="4143763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495170" name="TextBox 17"/>
          <p:cNvSpPr txBox="1"/>
          <p:nvPr/>
        </p:nvSpPr>
        <p:spPr bwMode="auto">
          <a:xfrm>
            <a:off x="3252626" y="4437995"/>
            <a:ext cx="5204951" cy="105201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sz="36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6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16</m:t>
                          </m:r>
                        </m:num>
                        <m:den>
                          <m:r>
                            <m:rPr/>
                            <a:rPr lang="ru-RU" sz="36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m:rPr/>
                        <a:rPr lang="ru-RU" sz="3600" b="0" i="1">
                          <a:latin typeface="Cambria Math"/>
                        </a:rPr>
                        <m:t>=15:3 </m:t>
                      </m:r>
                      <m:f>
                        <m:fPr>
                          <m:ctrlPr>
                            <a:rPr lang="ru-RU" sz="3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600" b="0" i="1">
                              <a:latin typeface="Cambria Math"/>
                            </a:rPr>
                            <m:t>16 −</m:t>
                          </m:r>
                          <m:r>
                            <m:rPr/>
                            <a:rPr lang="ru-RU" sz="3600" b="0" i="1">
                              <a:latin typeface="Cambria Math"/>
                            </a:rPr>
                            <m:t>15</m:t>
                          </m:r>
                        </m:num>
                        <m:den>
                          <m:r>
                            <m:rPr/>
                            <a:rPr lang="ru-RU" sz="3600" b="0" i="1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m:rPr/>
                        <a:rPr lang="ru-RU" sz="3600" b="0" i="1">
                          <a:latin typeface="Cambria Math"/>
                        </a:rPr>
                        <m:t>=</m:t>
                      </m:r>
                      <m:r>
                        <m:rPr/>
                        <a:rPr lang="ru-RU" sz="3600" b="0" i="1">
                          <a:solidFill>
                            <a:srgbClr val="0070C0"/>
                          </a:solidFill>
                          <a:latin typeface="Cambria Math"/>
                        </a:rPr>
                        <m:t>5</m:t>
                      </m:r>
                      <m:f>
                        <m:fPr>
                          <m:ctrlPr>
                            <a:rPr lang="ru-RU" sz="3600" b="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6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ru-RU" sz="36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583157" name="TextBox 2"/>
          <p:cNvSpPr txBox="1"/>
          <p:nvPr/>
        </p:nvSpPr>
        <p:spPr bwMode="auto">
          <a:xfrm>
            <a:off x="1985452" y="6488668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1">
                <a:latin typeface="Times New Roman"/>
                <a:cs typeface="Times New Roman"/>
              </a:rPr>
              <a:t>Сокращение дроби. Основное свойство дроби</a:t>
            </a:r>
            <a:endParaRPr/>
          </a:p>
        </p:txBody>
      </p:sp>
      <p:sp>
        <p:nvSpPr>
          <p:cNvPr id="563543816" name="TextBox 3"/>
          <p:cNvSpPr txBox="1"/>
          <p:nvPr/>
        </p:nvSpPr>
        <p:spPr bwMode="auto">
          <a:xfrm>
            <a:off x="261291" y="268560"/>
            <a:ext cx="11669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ru-RU" sz="3200" b="1">
                <a:latin typeface="Times New Roman"/>
                <a:cs typeface="Times New Roman"/>
              </a:rPr>
              <a:t>Сократить дробь</a:t>
            </a:r>
            <a:r>
              <a:rPr lang="ru-RU" sz="3200">
                <a:latin typeface="Times New Roman"/>
                <a:cs typeface="Times New Roman"/>
              </a:rPr>
              <a:t> это значит </a:t>
            </a:r>
            <a:r>
              <a:rPr lang="ru-RU" sz="3200">
                <a:solidFill>
                  <a:srgbClr val="E97E09"/>
                </a:solidFill>
                <a:latin typeface="Times New Roman"/>
                <a:cs typeface="Times New Roman"/>
              </a:rPr>
              <a:t>числитель</a:t>
            </a:r>
            <a:r>
              <a:rPr lang="ru-RU" sz="3200">
                <a:latin typeface="Times New Roman"/>
                <a:cs typeface="Times New Roman"/>
              </a:rPr>
              <a:t> и </a:t>
            </a:r>
            <a:r>
              <a:rPr lang="ru-RU" sz="3200">
                <a:solidFill>
                  <a:srgbClr val="00B050"/>
                </a:solidFill>
                <a:latin typeface="Times New Roman"/>
                <a:cs typeface="Times New Roman"/>
              </a:rPr>
              <a:t>знаменатель</a:t>
            </a:r>
            <a:r>
              <a:rPr lang="ru-RU" sz="3200">
                <a:latin typeface="Times New Roman"/>
                <a:cs typeface="Times New Roman"/>
              </a:rPr>
              <a:t> дроби разделить на одно и то же число: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90051529" name="TextBox 4"/>
          <p:cNvSpPr txBox="1"/>
          <p:nvPr/>
        </p:nvSpPr>
        <p:spPr bwMode="auto">
          <a:xfrm>
            <a:off x="2664625" y="1726537"/>
            <a:ext cx="2367636" cy="10407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sz="3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600" b="0" i="1">
                              <a:latin typeface="Cambria Math"/>
                            </a:rPr>
                            <m:t>12 :</m:t>
                          </m:r>
                          <m:r>
                            <m:rPr/>
                            <a:rPr lang="ru-RU" sz="3600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12</m:t>
                          </m:r>
                        </m:num>
                        <m:den>
                          <m:r>
                            <m:rPr/>
                            <a:rPr lang="ru-RU" sz="3600" b="0" i="1">
                              <a:latin typeface="Cambria Math"/>
                            </a:rPr>
                            <m:t>48 :</m:t>
                          </m:r>
                          <m:r>
                            <m:rPr/>
                            <a:rPr lang="ru-RU" sz="3600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m:rPr/>
                        <a:rPr lang="ru-RU" sz="3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3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6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ru-RU" sz="3600" b="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/>
          </a:p>
        </p:txBody>
      </p:sp>
      <p:sp>
        <p:nvSpPr>
          <p:cNvPr id="297680422" name="TextBox 5"/>
          <p:cNvSpPr txBox="1"/>
          <p:nvPr/>
        </p:nvSpPr>
        <p:spPr bwMode="auto">
          <a:xfrm>
            <a:off x="6989198" y="1726537"/>
            <a:ext cx="2112758" cy="10407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sz="3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600" b="0" i="1">
                              <a:latin typeface="Cambria Math"/>
                            </a:rPr>
                            <m:t>21 :</m:t>
                          </m:r>
                          <m:r>
                            <m:rPr/>
                            <a:rPr lang="ru-RU" sz="3600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m:rPr/>
                            <a:rPr lang="ru-RU" sz="3600" b="0" i="1">
                              <a:latin typeface="Cambria Math"/>
                            </a:rPr>
                            <m:t>56 :</m:t>
                          </m:r>
                          <m:r>
                            <m:rPr/>
                            <a:rPr lang="ru-RU" sz="3600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m:rPr/>
                        <a:rPr lang="ru-RU" sz="3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3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600" b="0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m:rPr/>
                            <a:rPr lang="ru-RU" sz="3600" b="0" i="1"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/>
          </a:p>
        </p:txBody>
      </p:sp>
      <p:sp>
        <p:nvSpPr>
          <p:cNvPr id="1563227126" name="TextBox 6"/>
          <p:cNvSpPr txBox="1"/>
          <p:nvPr/>
        </p:nvSpPr>
        <p:spPr bwMode="auto">
          <a:xfrm>
            <a:off x="261290" y="3378614"/>
            <a:ext cx="11669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ru-RU" sz="3200">
                <a:latin typeface="Times New Roman"/>
                <a:cs typeface="Times New Roman"/>
              </a:rPr>
              <a:t>Также </a:t>
            </a:r>
            <a:r>
              <a:rPr lang="ru-RU" sz="3200">
                <a:solidFill>
                  <a:srgbClr val="E97E09"/>
                </a:solidFill>
                <a:latin typeface="Times New Roman"/>
                <a:cs typeface="Times New Roman"/>
              </a:rPr>
              <a:t>числитель</a:t>
            </a:r>
            <a:r>
              <a:rPr lang="ru-RU" sz="3200">
                <a:latin typeface="Times New Roman"/>
                <a:cs typeface="Times New Roman"/>
              </a:rPr>
              <a:t> и </a:t>
            </a:r>
            <a:r>
              <a:rPr lang="ru-RU" sz="3200">
                <a:solidFill>
                  <a:srgbClr val="00B050"/>
                </a:solidFill>
                <a:latin typeface="Times New Roman"/>
                <a:cs typeface="Times New Roman"/>
              </a:rPr>
              <a:t>знаменатель</a:t>
            </a:r>
            <a:r>
              <a:rPr lang="ru-RU" sz="3200">
                <a:latin typeface="Times New Roman"/>
                <a:cs typeface="Times New Roman"/>
              </a:rPr>
              <a:t> дроби можно умножить на одно и то же число: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43758706" name="TextBox 7"/>
          <p:cNvSpPr txBox="1"/>
          <p:nvPr/>
        </p:nvSpPr>
        <p:spPr bwMode="auto">
          <a:xfrm>
            <a:off x="2645573" y="4879317"/>
            <a:ext cx="2507097" cy="10486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sz="3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600" b="0" i="1">
                              <a:latin typeface="Cambria Math"/>
                            </a:rPr>
                            <m:t>5 ·</m:t>
                          </m:r>
                          <m:r>
                            <m:rPr/>
                            <a:rPr lang="ru-RU" sz="3600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m:rPr/>
                            <a:rPr lang="ru-RU" sz="3600" b="0" i="1">
                              <a:latin typeface="Cambria Math"/>
                            </a:rPr>
                            <m:t>11 · </m:t>
                          </m:r>
                          <m:r>
                            <m:rPr/>
                            <a:rPr lang="ru-RU" sz="3600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m:rPr/>
                        <a:rPr lang="ru-RU" sz="3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3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600" b="0" i="1">
                              <a:latin typeface="Cambria Math"/>
                            </a:rPr>
                            <m:t>20</m:t>
                          </m:r>
                        </m:num>
                        <m:den>
                          <m:r>
                            <m:rPr/>
                            <a:rPr lang="ru-RU" sz="3600" b="0" i="1">
                              <a:latin typeface="Cambria Math"/>
                            </a:rPr>
                            <m:t>44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/>
          </a:p>
        </p:txBody>
      </p:sp>
      <p:sp>
        <p:nvSpPr>
          <p:cNvPr id="990737995" name="TextBox 8"/>
          <p:cNvSpPr txBox="1"/>
          <p:nvPr/>
        </p:nvSpPr>
        <p:spPr bwMode="auto">
          <a:xfrm>
            <a:off x="6970145" y="4879317"/>
            <a:ext cx="2151230" cy="10407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sz="3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600" b="0" i="1">
                              <a:latin typeface="Cambria Math"/>
                            </a:rPr>
                            <m:t>1 </m:t>
                          </m:r>
                          <m:r>
                            <m:rPr/>
                            <a:rPr lang="ru-RU" sz="3600" b="0" i="1">
                              <a:latin typeface="Cambria Math"/>
                            </a:rPr>
                            <m:t>·</m:t>
                          </m:r>
                          <m:r>
                            <m:rPr/>
                            <a:rPr lang="ru-RU" sz="3600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m:rPr/>
                            <a:rPr lang="ru-RU" sz="3600" b="0" i="1">
                              <a:latin typeface="Cambria Math"/>
                            </a:rPr>
                            <m:t>6 ·</m:t>
                          </m:r>
                          <m:r>
                            <m:rPr/>
                            <a:rPr lang="ru-RU" sz="3600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m:rPr/>
                        <a:rPr lang="ru-RU" sz="3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3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600" b="0" i="1"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m:rPr/>
                            <a:rPr lang="ru-RU" sz="3600" b="0" i="1">
                              <a:latin typeface="Cambria Math"/>
                            </a:rPr>
                            <m:t>54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614824" name="TextBox 2"/>
          <p:cNvSpPr txBox="1"/>
          <p:nvPr/>
        </p:nvSpPr>
        <p:spPr bwMode="auto">
          <a:xfrm>
            <a:off x="617643" y="55995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1">
                <a:latin typeface="Times New Roman"/>
                <a:cs typeface="Times New Roman"/>
              </a:rPr>
              <a:t>Общий знаменатель дробей </a:t>
            </a:r>
            <a:endParaRPr/>
          </a:p>
        </p:txBody>
      </p:sp>
      <p:sp>
        <p:nvSpPr>
          <p:cNvPr id="841033210" name="TextBox 6"/>
          <p:cNvSpPr txBox="1"/>
          <p:nvPr/>
        </p:nvSpPr>
        <p:spPr bwMode="auto">
          <a:xfrm>
            <a:off x="1305228" y="6334780"/>
            <a:ext cx="108120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>
                <a:latin typeface="Times New Roman"/>
                <a:cs typeface="Times New Roman"/>
              </a:rPr>
              <a:t>Простые числа </a:t>
            </a:r>
            <a:r>
              <a:rPr lang="ru-RU" sz="2800">
                <a:latin typeface="Times New Roman"/>
                <a:cs typeface="Times New Roman"/>
              </a:rPr>
              <a:t>– числа, которые делятся сами на себя и на 1.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76677938" name="Rectangle 1"/>
          <p:cNvSpPr>
            <a:spLocks noChangeArrowheads="1"/>
          </p:cNvSpPr>
          <p:nvPr/>
        </p:nvSpPr>
        <p:spPr bwMode="auto">
          <a:xfrm>
            <a:off x="347067" y="465259"/>
            <a:ext cx="11497865" cy="30469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just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3200">
                <a:latin typeface="Times New Roman"/>
                <a:cs typeface="Times New Roman"/>
              </a:rPr>
              <a:t>Чтобы привести дроби к </a:t>
            </a:r>
            <a:r>
              <a:rPr lang="ru-RU" sz="3200" b="1">
                <a:latin typeface="Times New Roman"/>
                <a:cs typeface="Times New Roman"/>
              </a:rPr>
              <a:t>общему знаменателю</a:t>
            </a:r>
            <a:r>
              <a:rPr lang="ru-RU" sz="3200">
                <a:latin typeface="Times New Roman"/>
                <a:cs typeface="Times New Roman"/>
              </a:rPr>
              <a:t> надо:</a:t>
            </a:r>
            <a:endParaRPr/>
          </a:p>
          <a:p>
            <a:pPr marL="0" marR="0" lvl="0" indent="0" algn="just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3200">
                <a:latin typeface="Times New Roman"/>
                <a:cs typeface="Times New Roman"/>
              </a:rPr>
              <a:t>1. </a:t>
            </a:r>
            <a:r>
              <a:rPr sz="3200">
                <a:latin typeface="Times New Roman"/>
                <a:cs typeface="Times New Roman"/>
              </a:rPr>
              <a:t>Разложить знаменатели на простые множители.</a:t>
            </a:r>
            <a:endParaRPr/>
          </a:p>
          <a:p>
            <a:pPr marL="0" marR="0" lvl="0" indent="0" algn="just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3200">
                <a:latin typeface="Times New Roman"/>
                <a:cs typeface="Times New Roman"/>
              </a:rPr>
              <a:t>2. </a:t>
            </a:r>
            <a:r>
              <a:rPr sz="3200">
                <a:latin typeface="Times New Roman"/>
                <a:cs typeface="Times New Roman"/>
              </a:rPr>
              <a:t>Первую дробь </a:t>
            </a:r>
            <a:r>
              <a:rPr sz="3200">
                <a:latin typeface="Times New Roman"/>
                <a:cs typeface="Times New Roman"/>
              </a:rPr>
              <a:t>домножить</a:t>
            </a:r>
            <a:r>
              <a:rPr sz="3200">
                <a:latin typeface="Times New Roman"/>
                <a:cs typeface="Times New Roman"/>
              </a:rPr>
              <a:t> на недостающие множители из второго знаменателя.</a:t>
            </a:r>
            <a:endParaRPr/>
          </a:p>
          <a:p>
            <a:pPr marL="0" marR="0" lvl="0" indent="0" algn="just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3200">
                <a:latin typeface="Times New Roman"/>
                <a:cs typeface="Times New Roman"/>
              </a:rPr>
              <a:t>3. </a:t>
            </a:r>
            <a:r>
              <a:rPr sz="3200">
                <a:latin typeface="Times New Roman"/>
                <a:cs typeface="Times New Roman"/>
              </a:rPr>
              <a:t>Вторую дробь </a:t>
            </a:r>
            <a:r>
              <a:rPr sz="3200">
                <a:latin typeface="Times New Roman"/>
                <a:cs typeface="Times New Roman"/>
              </a:rPr>
              <a:t>домножить</a:t>
            </a:r>
            <a:r>
              <a:rPr sz="3200">
                <a:latin typeface="Times New Roman"/>
                <a:cs typeface="Times New Roman"/>
              </a:rPr>
              <a:t> на недостающие множители из первого знаменателя.</a:t>
            </a:r>
            <a:endParaRPr/>
          </a:p>
        </p:txBody>
      </p:sp>
      <p:sp>
        <p:nvSpPr>
          <p:cNvPr id="1429626789" name="TextBox 8"/>
          <p:cNvSpPr txBox="1"/>
          <p:nvPr/>
        </p:nvSpPr>
        <p:spPr bwMode="auto">
          <a:xfrm>
            <a:off x="846243" y="3709660"/>
            <a:ext cx="2970942" cy="70416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defRPr/>
            </a:pPr>
            <a:r>
              <a:rPr lang="ru-RU" sz="3200">
                <a:latin typeface="Times New Roman"/>
                <a:cs typeface="Times New Roman"/>
              </a:rPr>
              <a:t>Пример 1: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sz="3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m:rPr/>
                            <a:rPr lang="ru-RU" sz="3200" b="0" i="1"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m:rPr/>
                        <a:rPr lang="ru-RU" sz="3200" b="0" i="1">
                          <a:latin typeface="Cambria Math"/>
                        </a:rPr>
                        <m:t> и </m:t>
                      </m:r>
                      <m:f>
                        <m:fPr>
                          <m:ctrlPr>
                            <a:rPr lang="ru-RU" sz="32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1"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m:rPr/>
                            <a:rPr lang="ru-RU" sz="3200" b="0" i="1">
                              <a:latin typeface="Cambria Math"/>
                            </a:rPr>
                            <m:t>14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/>
          </a:p>
        </p:txBody>
      </p:sp>
      <p:sp>
        <p:nvSpPr>
          <p:cNvPr id="1921986843" name="TextBox 10"/>
          <p:cNvSpPr txBox="1"/>
          <p:nvPr/>
        </p:nvSpPr>
        <p:spPr bwMode="auto">
          <a:xfrm>
            <a:off x="4220502" y="3552179"/>
            <a:ext cx="7717498" cy="131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1800">
                <a:latin typeface="Times New Roman"/>
                <a:cs typeface="Times New Roman"/>
              </a:rPr>
              <a:t>1. </a:t>
            </a:r>
            <a:r>
              <a:rPr lang="ru-RU">
                <a:latin typeface="Times New Roman"/>
                <a:cs typeface="Times New Roman"/>
              </a:rPr>
              <a:t>Число 7 является простым множителем, число 14 = 2 · 7.</a:t>
            </a:r>
            <a:endParaRPr sz="1800">
              <a:latin typeface="Times New Roman"/>
              <a:cs typeface="Times New Roman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>
                <a:latin typeface="Times New Roman"/>
                <a:cs typeface="Times New Roman"/>
              </a:rPr>
              <a:t>2. </a:t>
            </a:r>
            <a:r>
              <a:rPr lang="ru-RU" sz="1800">
                <a:latin typeface="Times New Roman"/>
                <a:cs typeface="Times New Roman"/>
              </a:rPr>
              <a:t>Домножим</a:t>
            </a:r>
            <a:r>
              <a:rPr lang="ru-RU" sz="1800">
                <a:latin typeface="Times New Roman"/>
                <a:cs typeface="Times New Roman"/>
              </a:rPr>
              <a:t> первую дробь на 2: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i="1">
                              <a:latin typeface="Cambria Math"/>
                            </a:rPr>
                            <m:t>2</m:t>
                          </m:r>
                          <m:r>
                            <m:rPr/>
                            <a:rPr lang="ru-RU" i="1">
                              <a:latin typeface="Cambria Math"/>
                            </a:rPr>
                            <m:t>·</m:t>
                          </m:r>
                          <m:r>
                            <m:rPr/>
                            <a:rPr lang="ru-RU" b="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m:rPr/>
                            <a:rPr lang="ru-RU" i="1">
                              <a:latin typeface="Cambria Math"/>
                            </a:rPr>
                            <m:t>7</m:t>
                          </m:r>
                          <m:r>
                            <m:rPr/>
                            <a:rPr lang="ru-RU" i="1">
                              <a:latin typeface="Cambria Math"/>
                            </a:rPr>
                            <m:t>·</m:t>
                          </m:r>
                          <m:r>
                            <m:rPr/>
                            <a:rPr lang="ru-RU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ru-RU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b="0" i="1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m:rPr/>
                            <a:rPr lang="ru-RU" b="0" i="1">
                              <a:latin typeface="Cambria Math"/>
                            </a:rPr>
                            <m:t>14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sz="1800">
              <a:latin typeface="Times New Roman"/>
              <a:cs typeface="Times New Roman"/>
            </a:endParaRPr>
          </a:p>
          <a:p>
            <a:pPr marL="0" marR="0" lvl="0" indent="0" algn="just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1800">
                <a:latin typeface="Times New Roman"/>
                <a:cs typeface="Times New Roman"/>
              </a:rPr>
              <a:t>3. Вторую дробь в данном примере </a:t>
            </a:r>
            <a:r>
              <a:rPr lang="ru-RU" sz="1800">
                <a:latin typeface="Times New Roman"/>
                <a:cs typeface="Times New Roman"/>
              </a:rPr>
              <a:t>домножать</a:t>
            </a:r>
            <a:r>
              <a:rPr lang="ru-RU" sz="1800">
                <a:latin typeface="Times New Roman"/>
                <a:cs typeface="Times New Roman"/>
              </a:rPr>
              <a:t> не надо, так как у неё нет недостающих множителей.</a:t>
            </a:r>
            <a:endParaRPr/>
          </a:p>
        </p:txBody>
      </p:sp>
      <p:sp>
        <p:nvSpPr>
          <p:cNvPr id="2076573704" name="TextBox 11"/>
          <p:cNvSpPr txBox="1"/>
          <p:nvPr/>
        </p:nvSpPr>
        <p:spPr bwMode="auto">
          <a:xfrm>
            <a:off x="846243" y="5249140"/>
            <a:ext cx="3144066" cy="69846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defRPr/>
            </a:pPr>
            <a:r>
              <a:rPr lang="ru-RU" sz="3200">
                <a:latin typeface="Times New Roman"/>
                <a:cs typeface="Times New Roman"/>
              </a:rPr>
              <a:t>Пример 2: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sz="3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ru-RU" sz="3200" b="0" i="1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m:rPr/>
                        <a:rPr lang="ru-RU" sz="3200" b="0" i="1">
                          <a:latin typeface="Cambria Math"/>
                        </a:rPr>
                        <m:t> и </m:t>
                      </m:r>
                      <m:f>
                        <m:fPr>
                          <m:ctrlPr>
                            <a:rPr lang="ru-RU" sz="32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1">
                              <a:latin typeface="Cambria Math"/>
                            </a:rPr>
                            <m:t>13</m:t>
                          </m:r>
                        </m:num>
                        <m:den>
                          <m:r>
                            <m:rPr/>
                            <a:rPr lang="ru-RU" sz="3200" b="0" i="1">
                              <a:latin typeface="Cambria Math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/>
          </a:p>
        </p:txBody>
      </p:sp>
      <p:sp>
        <p:nvSpPr>
          <p:cNvPr id="197069710" name="TextBox 12"/>
          <p:cNvSpPr txBox="1"/>
          <p:nvPr/>
        </p:nvSpPr>
        <p:spPr bwMode="auto">
          <a:xfrm>
            <a:off x="4220502" y="4979360"/>
            <a:ext cx="7717498" cy="118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1800">
                <a:latin typeface="Times New Roman"/>
                <a:cs typeface="Times New Roman"/>
              </a:rPr>
              <a:t>1. </a:t>
            </a:r>
            <a:r>
              <a:rPr lang="ru-RU">
                <a:latin typeface="Times New Roman"/>
                <a:cs typeface="Times New Roman"/>
              </a:rPr>
              <a:t>Число 12 = 3 · 2  · 2; число 30 = 3 · 5 · 2.</a:t>
            </a:r>
            <a:endParaRPr/>
          </a:p>
          <a:p>
            <a:pPr lvl="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>
                <a:latin typeface="Times New Roman"/>
                <a:cs typeface="Times New Roman"/>
              </a:rPr>
              <a:t>2. </a:t>
            </a:r>
            <a:r>
              <a:rPr lang="ru-RU" sz="1800">
                <a:latin typeface="Times New Roman"/>
                <a:cs typeface="Times New Roman"/>
              </a:rPr>
              <a:t>Домножим</a:t>
            </a:r>
            <a:r>
              <a:rPr lang="ru-RU" sz="1800">
                <a:latin typeface="Times New Roman"/>
                <a:cs typeface="Times New Roman"/>
              </a:rPr>
              <a:t> первую дробь на 5: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b="0" i="1">
                              <a:latin typeface="Cambria Math"/>
                            </a:rPr>
                            <m:t>1</m:t>
                          </m:r>
                          <m:r>
                            <m:rPr/>
                            <a:rPr lang="ru-RU" i="1">
                              <a:latin typeface="Cambria Math"/>
                            </a:rPr>
                            <m:t>·</m:t>
                          </m:r>
                          <m:r>
                            <m:rPr/>
                            <a:rPr lang="ru-RU" b="0" i="1"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m:rPr/>
                            <a:rPr lang="ru-RU" b="0" i="1">
                              <a:latin typeface="Cambria Math"/>
                            </a:rPr>
                            <m:t>12</m:t>
                          </m:r>
                          <m:r>
                            <m:rPr/>
                            <a:rPr lang="ru-RU" i="1">
                              <a:latin typeface="Cambria Math"/>
                            </a:rPr>
                            <m:t>·</m:t>
                          </m:r>
                          <m:r>
                            <m:rPr/>
                            <a:rPr lang="ru-RU" b="0" i="1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m:rPr/>
                        <a:rPr lang="ru-RU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b="0" i="1"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m:rPr/>
                            <a:rPr lang="ru-RU" b="0" i="1">
                              <a:latin typeface="Cambria Math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sz="1800">
              <a:latin typeface="Times New Roman"/>
              <a:cs typeface="Times New Roman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>
                <a:latin typeface="Times New Roman"/>
                <a:cs typeface="Times New Roman"/>
              </a:rPr>
              <a:t>3. </a:t>
            </a:r>
            <a:r>
              <a:rPr lang="ru-RU" sz="1800">
                <a:latin typeface="Times New Roman"/>
                <a:cs typeface="Times New Roman"/>
              </a:rPr>
              <a:t>Домножим</a:t>
            </a:r>
            <a:r>
              <a:rPr lang="ru-RU" sz="1800">
                <a:latin typeface="Times New Roman"/>
                <a:cs typeface="Times New Roman"/>
              </a:rPr>
              <a:t> вторую дробь на недостающую 2: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b="0" i="1">
                              <a:latin typeface="Cambria Math"/>
                            </a:rPr>
                            <m:t>1</m:t>
                          </m:r>
                          <m:r>
                            <m:rPr/>
                            <a:rPr lang="ru-RU" b="0" i="1">
                              <a:latin typeface="Cambria Math"/>
                            </a:rPr>
                            <m:t>3</m:t>
                          </m:r>
                          <m:r>
                            <m:rPr/>
                            <a:rPr lang="ru-RU" i="1">
                              <a:latin typeface="Cambria Math"/>
                            </a:rPr>
                            <m:t>·</m:t>
                          </m:r>
                          <m:r>
                            <m:rPr/>
                            <a:rPr lang="ru-RU" b="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m:rPr/>
                            <a:rPr lang="ru-RU" b="0" i="1">
                              <a:latin typeface="Cambria Math"/>
                            </a:rPr>
                            <m:t>30</m:t>
                          </m:r>
                          <m:r>
                            <m:rPr/>
                            <a:rPr lang="ru-RU" i="1">
                              <a:latin typeface="Cambria Math"/>
                            </a:rPr>
                            <m:t>·</m:t>
                          </m:r>
                          <m:r>
                            <m:rPr/>
                            <a:rPr lang="ru-RU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ru-RU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ru-RU" b="0" i="1">
                              <a:latin typeface="Cambria Math"/>
                            </a:rPr>
                            <m:t>26</m:t>
                          </m:r>
                        </m:num>
                        <m:den>
                          <m:r>
                            <m:rPr/>
                            <a:rPr lang="ru-RU" b="0" i="1">
                              <a:latin typeface="Cambria Math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ru-RU" sz="1800">
                <a:latin typeface="Times New Roman"/>
                <a:cs typeface="Times New Roman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371377" name="TextBox 2"/>
          <p:cNvSpPr txBox="1"/>
          <p:nvPr/>
        </p:nvSpPr>
        <p:spPr bwMode="auto">
          <a:xfrm>
            <a:off x="95250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1">
                <a:latin typeface="Times New Roman"/>
                <a:cs typeface="Times New Roman"/>
              </a:rPr>
              <a:t>Сравнение дробей</a:t>
            </a:r>
            <a:endParaRPr/>
          </a:p>
        </p:txBody>
      </p:sp>
      <p:sp>
        <p:nvSpPr>
          <p:cNvPr id="2057402674" name="TextBox 4"/>
          <p:cNvSpPr txBox="1"/>
          <p:nvPr/>
        </p:nvSpPr>
        <p:spPr bwMode="auto">
          <a:xfrm>
            <a:off x="292100" y="465435"/>
            <a:ext cx="11607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sz="3200">
                <a:latin typeface="Times New Roman"/>
                <a:cs typeface="Times New Roman"/>
              </a:rPr>
              <a:t>Любая </a:t>
            </a:r>
            <a:r>
              <a:rPr lang="ru-RU" sz="3200">
                <a:solidFill>
                  <a:srgbClr val="FF0000"/>
                </a:solidFill>
                <a:latin typeface="Times New Roman"/>
                <a:cs typeface="Times New Roman"/>
              </a:rPr>
              <a:t>неправильная дробь </a:t>
            </a:r>
            <a:r>
              <a:rPr lang="ru-RU" sz="3200">
                <a:latin typeface="Times New Roman"/>
                <a:cs typeface="Times New Roman"/>
              </a:rPr>
              <a:t>больше </a:t>
            </a:r>
            <a:r>
              <a:rPr lang="ru-RU" sz="3200">
                <a:solidFill>
                  <a:srgbClr val="00B050"/>
                </a:solidFill>
                <a:latin typeface="Times New Roman"/>
                <a:cs typeface="Times New Roman"/>
              </a:rPr>
              <a:t>правильной дроби</a:t>
            </a:r>
            <a:r>
              <a:rPr lang="ru-RU" sz="3200">
                <a:latin typeface="Times New Roman"/>
                <a:cs typeface="Times New Roman"/>
              </a:rPr>
              <a:t>, так как неправильная дробь больше или равна 1, а правильная — меньше единицы. 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78160545" name="TextBox 6"/>
          <p:cNvSpPr txBox="1"/>
          <p:nvPr/>
        </p:nvSpPr>
        <p:spPr bwMode="auto">
          <a:xfrm>
            <a:off x="292100" y="2131198"/>
            <a:ext cx="11480800" cy="3503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AutoNum type="arabicPeriod"/>
              <a:defRPr/>
            </a:pPr>
            <a:r>
              <a:rPr lang="ru-RU" sz="3200">
                <a:latin typeface="Times New Roman"/>
                <a:cs typeface="Times New Roman"/>
              </a:rPr>
              <a:t>При </a:t>
            </a:r>
            <a:r>
              <a:rPr lang="ru-RU" sz="3200" b="1">
                <a:solidFill>
                  <a:srgbClr val="6FCF17"/>
                </a:solidFill>
                <a:latin typeface="Times New Roman"/>
                <a:cs typeface="Times New Roman"/>
              </a:rPr>
              <a:t>одинаковых знаменателях</a:t>
            </a:r>
            <a:r>
              <a:rPr lang="ru-RU" sz="3200">
                <a:solidFill>
                  <a:srgbClr val="139D27"/>
                </a:solidFill>
                <a:latin typeface="Times New Roman"/>
                <a:cs typeface="Times New Roman"/>
              </a:rPr>
              <a:t> </a:t>
            </a:r>
            <a:r>
              <a:rPr lang="ru-RU" sz="3200">
                <a:latin typeface="Times New Roman"/>
                <a:cs typeface="Times New Roman"/>
              </a:rPr>
              <a:t>больше та дробь, у которой числитель больше. (Пример: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ru-RU" sz="3200" i="1">
                              <a:latin typeface="Cambria Math"/>
                              <a:ea typeface="Cambria Math"/>
                              <a:cs typeface="Times New Roman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1">
                              <a:latin typeface="Cambria Math"/>
                              <a:cs typeface="Times New Roman"/>
                            </a:rPr>
                            <m:t>7</m:t>
                          </m:r>
                        </m:num>
                        <m:den>
                          <m:r>
                            <m:rPr/>
                            <a:rPr lang="ru-RU" sz="3200" b="0" i="1">
                              <a:solidFill>
                                <a:srgbClr val="6FCF17"/>
                              </a:solidFill>
                              <a:latin typeface="Cambria Math"/>
                              <a:cs typeface="Times New Roman"/>
                            </a:rPr>
                            <m:t>9</m:t>
                          </m:r>
                        </m:den>
                      </m:f>
                      <m:r>
                        <m:rPr/>
                        <a:rPr lang="ru-RU" sz="3200" i="1">
                          <a:latin typeface="Cambria Math"/>
                          <a:ea typeface="Cambria Math"/>
                          <a:cs typeface="Times New Roman"/>
                        </a:rPr>
                        <m:t>&gt;</m:t>
                      </m:r>
                      <m:f>
                        <m:fPr>
                          <m:ctrlPr>
                            <a:rPr lang="ru-RU" sz="3200" i="1">
                              <a:latin typeface="Cambria Math"/>
                              <a:ea typeface="Cambria Math"/>
                              <a:cs typeface="Times New Roman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1">
                              <a:latin typeface="Cambria Math"/>
                              <a:ea typeface="Cambria Math"/>
                              <a:cs typeface="Times New Roman"/>
                            </a:rPr>
                            <m:t>2</m:t>
                          </m:r>
                        </m:num>
                        <m:den>
                          <m:r>
                            <m:rPr/>
                            <a:rPr lang="ru-RU" sz="3200" b="0" i="1">
                              <a:solidFill>
                                <a:srgbClr val="6FCF17"/>
                              </a:solidFill>
                              <a:latin typeface="Cambria Math"/>
                              <a:ea typeface="Cambria Math"/>
                              <a:cs typeface="Times New Roman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ru-RU" sz="3200">
                <a:latin typeface="Times New Roman"/>
                <a:cs typeface="Times New Roman"/>
              </a:rPr>
              <a:t>)</a:t>
            </a:r>
            <a:endParaRPr/>
          </a:p>
          <a:p>
            <a:pPr marL="514350" indent="-514350" algn="just">
              <a:buFontTx/>
              <a:buAutoNum type="arabicPeriod"/>
              <a:defRPr/>
            </a:pPr>
            <a:r>
              <a:rPr lang="ru-RU" sz="3200">
                <a:latin typeface="Times New Roman"/>
                <a:cs typeface="Times New Roman"/>
              </a:rPr>
              <a:t>При </a:t>
            </a:r>
            <a:r>
              <a:rPr lang="ru-RU" sz="3200" b="1">
                <a:solidFill>
                  <a:srgbClr val="E97E09"/>
                </a:solidFill>
                <a:latin typeface="Times New Roman"/>
                <a:cs typeface="Times New Roman"/>
              </a:rPr>
              <a:t>одинаковых числителях </a:t>
            </a:r>
            <a:r>
              <a:rPr lang="ru-RU" sz="3200">
                <a:latin typeface="Times New Roman"/>
                <a:cs typeface="Times New Roman"/>
              </a:rPr>
              <a:t>больше та дробь, у которой знаменатель меньше. (Пример: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ru-RU" sz="3200" i="1">
                              <a:latin typeface="Cambria Math"/>
                              <a:ea typeface="Cambria Math"/>
                              <a:cs typeface="Times New Roman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1">
                              <a:solidFill>
                                <a:srgbClr val="E97E09"/>
                              </a:solidFill>
                              <a:latin typeface="Cambria Math"/>
                              <a:cs typeface="Times New Roman"/>
                            </a:rPr>
                            <m:t>4</m:t>
                          </m:r>
                        </m:num>
                        <m:den>
                          <m:r>
                            <m:rPr/>
                            <a:rPr lang="ru-RU" sz="3200" b="0" i="1">
                              <a:latin typeface="Cambria Math"/>
                              <a:cs typeface="Times New Roman"/>
                            </a:rPr>
                            <m:t>9</m:t>
                          </m:r>
                        </m:den>
                      </m:f>
                      <m:r>
                        <m:rPr/>
                        <a:rPr lang="ru-RU" sz="3200" i="1">
                          <a:latin typeface="Cambria Math"/>
                          <a:ea typeface="Cambria Math"/>
                          <a:cs typeface="Times New Roman"/>
                        </a:rPr>
                        <m:t>&lt;</m:t>
                      </m:r>
                      <m:f>
                        <m:fPr>
                          <m:ctrlPr>
                            <a:rPr lang="ru-RU" sz="3200" i="1">
                              <a:latin typeface="Cambria Math"/>
                              <a:ea typeface="Cambria Math"/>
                              <a:cs typeface="Times New Roman"/>
                            </a:rPr>
                          </m:ctrlPr>
                        </m:fPr>
                        <m:num>
                          <m:r>
                            <m:rPr/>
                            <a:rPr lang="ru-RU" sz="3200" b="0" i="1">
                              <a:solidFill>
                                <a:srgbClr val="E97E09"/>
                              </a:solidFill>
                              <a:latin typeface="Cambria Math"/>
                              <a:ea typeface="Cambria Math"/>
                              <a:cs typeface="Times New Roman"/>
                            </a:rPr>
                            <m:t>4</m:t>
                          </m:r>
                        </m:num>
                        <m:den>
                          <m:r>
                            <m:rPr/>
                            <a:rPr lang="ru-RU" sz="3200" b="0" i="1">
                              <a:latin typeface="Cambria Math"/>
                              <a:ea typeface="Cambria Math"/>
                              <a:cs typeface="Times New Roman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ru-RU" sz="3200">
                <a:latin typeface="Times New Roman"/>
                <a:cs typeface="Times New Roman"/>
              </a:rPr>
              <a:t>)</a:t>
            </a:r>
            <a:endParaRPr/>
          </a:p>
          <a:p>
            <a:pPr marL="514350" indent="-514350" algn="just">
              <a:buAutoNum type="arabicPeriod"/>
              <a:defRPr/>
            </a:pPr>
            <a:r>
              <a:rPr lang="ru-RU" sz="3200">
                <a:latin typeface="Times New Roman"/>
                <a:cs typeface="Times New Roman"/>
              </a:rPr>
              <a:t>Если и знаменатель и числитель разные, то надо привести дроби к общему знаменателю и сравнить как в пункте 1.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Татьяна Хлопина</dc:creator>
  <cp:lastModifiedBy/>
  <cp:revision>10</cp:revision>
  <dcterms:created xsi:type="dcterms:W3CDTF">2026-03-05T09:07:20Z</dcterms:created>
  <dcterms:modified xsi:type="dcterms:W3CDTF">2026-03-07T11:39:28Z</dcterms:modified>
</cp:coreProperties>
</file>